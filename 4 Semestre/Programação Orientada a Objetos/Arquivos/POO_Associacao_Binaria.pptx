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818" r:id="rId2"/>
    <p:sldMasterId id="2147483830" r:id="rId3"/>
  </p:sldMasterIdLst>
  <p:notesMasterIdLst>
    <p:notesMasterId r:id="rId16"/>
  </p:notesMasterIdLst>
  <p:handoutMasterIdLst>
    <p:handoutMasterId r:id="rId17"/>
  </p:handoutMasterIdLst>
  <p:sldIdLst>
    <p:sldId id="256" r:id="rId4"/>
    <p:sldId id="290" r:id="rId5"/>
    <p:sldId id="296" r:id="rId6"/>
    <p:sldId id="297" r:id="rId7"/>
    <p:sldId id="295" r:id="rId8"/>
    <p:sldId id="308" r:id="rId9"/>
    <p:sldId id="298" r:id="rId10"/>
    <p:sldId id="302" r:id="rId11"/>
    <p:sldId id="303" r:id="rId12"/>
    <p:sldId id="307" r:id="rId13"/>
    <p:sldId id="304" r:id="rId14"/>
    <p:sldId id="306" r:id="rId15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003300"/>
    <a:srgbClr val="FF3300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9" autoAdjust="0"/>
    <p:restoredTop sz="90929"/>
  </p:normalViewPr>
  <p:slideViewPr>
    <p:cSldViewPr>
      <p:cViewPr varScale="1">
        <p:scale>
          <a:sx n="71" d="100"/>
          <a:sy n="71" d="100"/>
        </p:scale>
        <p:origin x="193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EFEF867-22D4-440C-BDCD-517268F90D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705B689-8A59-42D7-B1CC-1862257FF0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B75115A-0F8A-4D03-AD54-47238352D4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E4A32ED2-0829-4DD4-8D2F-32C431AE18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C6340C-94F6-4B24-93A6-3AA2F572AC9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40B11B-083C-416C-9FFA-69CBE7C93B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7A440B8-BE57-4FB3-A3D7-329E937E54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F915F1-0F68-403A-9C30-68358415B06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8963C8E0-EC5A-4F27-9E17-B6F331CFFA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3C7057D-752A-4BAA-A71F-AE4012315A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699F077-E00F-4DDE-BC80-CF30D0E40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DF65A3E-478F-4262-9234-9B87FB9C2A0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171EFE9-54E1-4B9B-A963-2E8C47E702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61FD7568-4F1E-4669-9ADD-A46C2F79EA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CD2069-2BDD-44F8-A50E-F3A89DAC628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0E499002-5480-4FC8-BE4D-DC95C0704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6A6D8816-3618-4482-AC99-A67EF3748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6D232E7F-FF0C-4EC5-96E0-B33C7C1D7FFF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2A4E12D-270E-42C4-A120-5C65E01FFC5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95AA250A-2F64-443A-B045-7419A223CF4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F1C25C42-6A53-4E66-ABAA-79826E323E4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8FBF83D9-C26E-4524-98AA-D396E3D4599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68DA6EA-3F72-4D69-B629-D95354B17AE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7829F9B4-730A-4718-AD50-67080B3BF8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5A6CE438-A270-40B0-8B70-D04C2354D7E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66B02F80-1F6F-4437-B5BC-3EC7296D9EE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95919E1-DE27-4738-83BD-ED0835073D40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F766C843-28E0-46B2-B4DD-D62BEE60A71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E31085AB-0142-4471-93E9-B7EE4CF32C9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6306182B-D41B-4518-8DDE-FBF553D4C58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6DD55209-9A3A-40AE-9888-AF057A15022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8299C916-7412-4F5B-B504-4BB3C21C830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Freeform 17">
                <a:extLst>
                  <a:ext uri="{FF2B5EF4-FFF2-40B4-BE49-F238E27FC236}">
                    <a16:creationId xmlns:a16="http://schemas.microsoft.com/office/drawing/2014/main" id="{69D78456-F996-494E-9DCF-E41A4940926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2" name="Freeform 18">
                <a:extLst>
                  <a:ext uri="{FF2B5EF4-FFF2-40B4-BE49-F238E27FC236}">
                    <a16:creationId xmlns:a16="http://schemas.microsoft.com/office/drawing/2014/main" id="{799F8BE3-34B2-4FC6-B46F-4802CD56B90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FB83CD20-3090-4B26-9F91-023E79317EA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8B3F3924-C2B8-4C7E-853C-B0CCA7A69CE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5" name="Freeform 21">
                <a:extLst>
                  <a:ext uri="{FF2B5EF4-FFF2-40B4-BE49-F238E27FC236}">
                    <a16:creationId xmlns:a16="http://schemas.microsoft.com/office/drawing/2014/main" id="{95BD9711-A541-4FA7-B501-48559B140E1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Freeform 22">
                <a:extLst>
                  <a:ext uri="{FF2B5EF4-FFF2-40B4-BE49-F238E27FC236}">
                    <a16:creationId xmlns:a16="http://schemas.microsoft.com/office/drawing/2014/main" id="{476D7027-6060-4A59-8E7B-3F3D6D0AE9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6" name="Freeform 23">
              <a:extLst>
                <a:ext uri="{FF2B5EF4-FFF2-40B4-BE49-F238E27FC236}">
                  <a16:creationId xmlns:a16="http://schemas.microsoft.com/office/drawing/2014/main" id="{E16FA186-F0A8-4F51-8C52-620C888FCC40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443 h 385"/>
                <a:gd name="T2" fmla="*/ 5762 w 5762"/>
                <a:gd name="T3" fmla="*/ 423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24">
              <a:extLst>
                <a:ext uri="{FF2B5EF4-FFF2-40B4-BE49-F238E27FC236}">
                  <a16:creationId xmlns:a16="http://schemas.microsoft.com/office/drawing/2014/main" id="{F466534A-0FFC-480B-8BF5-FD81CB55BA0F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482A9B85-515B-4B37-9663-F32D22E3A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D73A46D-FF56-4F47-B4EE-40519FB60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19A182B2-2D55-4C0F-895A-89B502B160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C230BA9-0E88-4B92-B045-C124036EEF3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693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5571FACD-A535-4155-A033-80D060402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A969DF75-1E76-4732-9B73-71B058F4EE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BC8AA5C2-AE89-4EBA-866C-CDA3CDC415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C0B95-10EC-44F7-AC87-D0FF7D010D0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220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812961CB-03D1-4C6F-BDAA-B8362FE5A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212333D-937B-4158-B857-5236853BF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E35A1E10-6144-4A3B-A3ED-CE74060DC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08BC4-8E2B-4D0E-BADC-6261ED0EA6E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027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D27464B9-19F4-42B8-9718-5B0BF4AD3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9BDC14F9-16FC-428C-93E0-9C02D242E9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46AD06DA-C56F-4C28-808E-94F3522F0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F225-14CE-4592-840F-2F99BE1BA5E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565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91A6BE12-8524-4499-BE21-CE2538F95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8" name="Rectangle 28">
            <a:extLst>
              <a:ext uri="{FF2B5EF4-FFF2-40B4-BE49-F238E27FC236}">
                <a16:creationId xmlns:a16="http://schemas.microsoft.com/office/drawing/2014/main" id="{888AF4D9-0FF2-4D06-98CF-56DA6F88B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171BA8E5-0D87-4633-B80D-653A170788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E90B-9AD7-4B94-8662-22347B28B7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127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2F8A150-1F6A-4201-AE4F-558BDAE29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BB5B5E80-08C0-412F-9084-0EC3344C5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C7F745D-1E67-4B30-ADB4-76CFBEC55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A9A03-AAD9-40A3-9213-20B6CFEDA86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45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57A4A9FE-BEA3-4796-B708-03F48E3D6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A412B1C4-0304-4909-B337-327BD188B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143EDCC-62AE-419C-ACD1-9639D0D10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0DBB-ACA9-45A3-BA96-0A7AAC5FF3C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589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CEBCCA9C-B9E0-4AD3-AFD1-B44C849B8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453A1EDC-33EB-4601-A209-820015B6A9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BD104E9-07FD-4BBC-923D-3CA8280CD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5A39A-7BF7-4F64-9E54-105AEF9BB2E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095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4C1AAE6E-7805-4BC1-B1E2-C97EAC439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F5F41C80-564F-4C5A-B4EE-5102204F1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E0386DE1-53F8-43B3-91C7-B50BA92B9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517863-363E-41B8-BD56-63A48DB571E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821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6A46FC9C-043D-4030-8EF1-7211744AFB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5092007F-0B67-4E23-8D02-02F00FC6B2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8D9165B1-E5D1-4F33-8BEC-13B9065E0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152A2-6358-419F-9FFC-F85F2407C78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5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C6429826-792B-4442-AE30-AB1EF8075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42943D6-D0AB-42F7-A394-508CBD2263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0BF838AB-84EA-447C-87C1-FCC6ABC4B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29A3D-5097-4BD3-857B-92C8FA381EF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3122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F02FD1B2-C5C9-44FA-9800-9CC32D8BB3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7D336E94-D586-4CBA-ABAB-177E32861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9ADD81D3-4B4A-4458-B8ED-ECCB16472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01B24-5666-4020-A59C-E1C049436B6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5163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C48FE-EB85-481C-8523-5C3024C3D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2AB50-BCB7-444E-80AD-6A156CAD5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E5E109-4672-4A97-A7EF-3E873CF7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F5DB3-5247-40D0-9BF9-27DC06C2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F809D3-3E98-4CB8-B830-F85614C9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75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D95ED-3BD6-44FC-AC92-318EE44F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80C2E-B73E-4B22-B047-F5F5A9D1F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BA3747-DD3E-4EC6-A859-D7D54EB1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9D784B-7249-4BBF-839A-E67058FC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BECBC9-ECEA-4FBC-BB9F-68C24D34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483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AA54B-36F8-43B1-B9DC-AA6F5E0A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A0F952-0C3E-4445-9BA6-C23929805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D63C4-0EFB-4B86-8039-1FBF643D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BCAB9-D60D-4389-B42C-0BA4AF50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A7878-A5AC-4C75-AE7C-15B10C6A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064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B5022-44EA-44C4-9807-17E0091D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3DA42-D034-4F1A-B416-C0EFD016F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BCD399-743B-4C53-8310-2A10080D7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37CDD7-5BBA-4F71-ABC1-BF6DB28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D87CB2-54A4-44C3-82ED-F59C9A25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158F10-B8B7-4582-8A19-12851B03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526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25C3C-18F2-4630-81F8-AC290F46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4BB233-A075-4738-9514-CD03F3C7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3BB598-F106-447F-A8D3-9C96FB533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DB1278-E70B-43DA-8065-963EC003D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147C32-48D1-4708-AEC0-C379A9667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C6F409-D8B1-41AA-97B1-E71EBDA5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95A1D9-4883-486F-B52B-B88D25D7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FAFB2CC-21D0-40D4-BEEE-A3094E1F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162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A995A-8264-435D-9842-5B9DCE4D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078BC7-631A-4C56-BB3A-7300402B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3B0C4B-10F5-4B27-BB46-E910E367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54FF96-72B8-4D25-90EC-F0DF6722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655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7089A9-B031-4184-98DB-907D6E03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60EE08-52E5-445C-9116-1C06FFFE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AD3B5D-7636-4C13-8BCC-ADD228A6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38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11EBB-D097-4BEF-B3FC-07821129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FC9711-CCE0-4EBB-9237-A7B0D9E27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9B1B76-AE50-4DA5-9E58-48D9539CB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80CF15-38C9-4AD2-B514-1BD40B61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FBA2BC-A170-46D3-A60C-59D52A36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A5B352-4275-4FFB-97E8-7366F008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645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45B04-73C9-4ADD-96A7-286DC654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2534FFE-593E-45C6-8123-6A6EDF817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1C4BE3-C4B3-4B1C-A53A-84D5E41E2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8AFCCF-85F1-4ECC-9819-22CC09B3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12E267-89D9-4D00-8593-7CE8F3E8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712631-B6C6-4B1B-B196-945B3C76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128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8D67-39E1-45AE-BE5A-C4525F15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9C9D3D-3428-4AC9-8DD8-8B455979D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02D3A-4320-4818-91B1-ECF8D5E6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D744C-4C50-411A-9C60-6E033284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9DB9DA-8F04-419E-AA87-5E56845B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7681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13B32B-6A75-4CC3-9C8B-5D2A3265D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70E0D9-23AF-4845-9177-2557B9180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085EDE-413F-4A98-8A8E-B8020792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3744BE-A178-4603-B806-6C184048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F6CD51-3A48-43FA-BC6D-4D89E45A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751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D896024-F5D6-4ADC-9876-CDF248E85BD7}"/>
              </a:ext>
            </a:extLst>
          </p:cNvPr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15817AF0-6DC3-4B0D-8274-B3B532E982C7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1035" name="Freeform 4">
                <a:extLst>
                  <a:ext uri="{FF2B5EF4-FFF2-40B4-BE49-F238E27FC236}">
                    <a16:creationId xmlns:a16="http://schemas.microsoft.com/office/drawing/2014/main" id="{1637DB80-9C46-4592-9473-0E311A77562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5">
                <a:extLst>
                  <a:ext uri="{FF2B5EF4-FFF2-40B4-BE49-F238E27FC236}">
                    <a16:creationId xmlns:a16="http://schemas.microsoft.com/office/drawing/2014/main" id="{F7E3E009-EC27-4252-BF9F-0D09C586B8C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6">
                <a:extLst>
                  <a:ext uri="{FF2B5EF4-FFF2-40B4-BE49-F238E27FC236}">
                    <a16:creationId xmlns:a16="http://schemas.microsoft.com/office/drawing/2014/main" id="{430E315A-63A8-40DF-A56E-09FC3E6B136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DC76923A-1762-4C99-974D-FDA7297F557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8">
                <a:extLst>
                  <a:ext uri="{FF2B5EF4-FFF2-40B4-BE49-F238E27FC236}">
                    <a16:creationId xmlns:a16="http://schemas.microsoft.com/office/drawing/2014/main" id="{F7053AB3-4B6C-4D31-B5C5-1034599120F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9">
                <a:extLst>
                  <a:ext uri="{FF2B5EF4-FFF2-40B4-BE49-F238E27FC236}">
                    <a16:creationId xmlns:a16="http://schemas.microsoft.com/office/drawing/2014/main" id="{05794A17-A7F6-4D9A-A48B-B781A8EFF67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10">
                <a:extLst>
                  <a:ext uri="{FF2B5EF4-FFF2-40B4-BE49-F238E27FC236}">
                    <a16:creationId xmlns:a16="http://schemas.microsoft.com/office/drawing/2014/main" id="{9AC6C851-E481-4479-9805-43E5E5596D6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1">
                <a:extLst>
                  <a:ext uri="{FF2B5EF4-FFF2-40B4-BE49-F238E27FC236}">
                    <a16:creationId xmlns:a16="http://schemas.microsoft.com/office/drawing/2014/main" id="{71D48E56-3763-47A3-B673-9C1DC61B1F4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2">
                <a:extLst>
                  <a:ext uri="{FF2B5EF4-FFF2-40B4-BE49-F238E27FC236}">
                    <a16:creationId xmlns:a16="http://schemas.microsoft.com/office/drawing/2014/main" id="{209F0E0A-85A5-4734-8E3E-2E9E660FD23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3">
                <a:extLst>
                  <a:ext uri="{FF2B5EF4-FFF2-40B4-BE49-F238E27FC236}">
                    <a16:creationId xmlns:a16="http://schemas.microsoft.com/office/drawing/2014/main" id="{56AF9B1A-ED05-4B82-91A1-44F62BDA574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4">
                <a:extLst>
                  <a:ext uri="{FF2B5EF4-FFF2-40B4-BE49-F238E27FC236}">
                    <a16:creationId xmlns:a16="http://schemas.microsoft.com/office/drawing/2014/main" id="{32ACFC41-8B06-4ABD-BBB2-3475EE459CA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5">
                <a:extLst>
                  <a:ext uri="{FF2B5EF4-FFF2-40B4-BE49-F238E27FC236}">
                    <a16:creationId xmlns:a16="http://schemas.microsoft.com/office/drawing/2014/main" id="{EB3B8617-474A-4707-BBA2-DFA487A0C13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6">
                <a:extLst>
                  <a:ext uri="{FF2B5EF4-FFF2-40B4-BE49-F238E27FC236}">
                    <a16:creationId xmlns:a16="http://schemas.microsoft.com/office/drawing/2014/main" id="{9524B833-2736-4117-8F70-774B6FCD776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7">
                <a:extLst>
                  <a:ext uri="{FF2B5EF4-FFF2-40B4-BE49-F238E27FC236}">
                    <a16:creationId xmlns:a16="http://schemas.microsoft.com/office/drawing/2014/main" id="{21705548-6093-4DEA-84E9-CE688A3C4123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8">
                <a:extLst>
                  <a:ext uri="{FF2B5EF4-FFF2-40B4-BE49-F238E27FC236}">
                    <a16:creationId xmlns:a16="http://schemas.microsoft.com/office/drawing/2014/main" id="{1D8F7A08-550A-40E1-93D2-A1688A0806D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Freeform 19">
                <a:extLst>
                  <a:ext uri="{FF2B5EF4-FFF2-40B4-BE49-F238E27FC236}">
                    <a16:creationId xmlns:a16="http://schemas.microsoft.com/office/drawing/2014/main" id="{7802B655-B1BB-4C09-A4BC-EA55FBBFEE5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Freeform 20">
                <a:extLst>
                  <a:ext uri="{FF2B5EF4-FFF2-40B4-BE49-F238E27FC236}">
                    <a16:creationId xmlns:a16="http://schemas.microsoft.com/office/drawing/2014/main" id="{7D0C38F3-56B1-4802-A069-27290DDA519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2" name="Freeform 21">
                <a:extLst>
                  <a:ext uri="{FF2B5EF4-FFF2-40B4-BE49-F238E27FC236}">
                    <a16:creationId xmlns:a16="http://schemas.microsoft.com/office/drawing/2014/main" id="{66D7610B-31B6-4A5F-B242-818A5B6E44F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2">
                <a:extLst>
                  <a:ext uri="{FF2B5EF4-FFF2-40B4-BE49-F238E27FC236}">
                    <a16:creationId xmlns:a16="http://schemas.microsoft.com/office/drawing/2014/main" id="{6CEB5E79-5173-498B-B414-785FF0E0528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3">
              <a:extLst>
                <a:ext uri="{FF2B5EF4-FFF2-40B4-BE49-F238E27FC236}">
                  <a16:creationId xmlns:a16="http://schemas.microsoft.com/office/drawing/2014/main" id="{C885D1DB-1BE5-4935-AA5E-995710D11A31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>
                <a:gd name="T0" fmla="*/ 0 w 5762"/>
                <a:gd name="T1" fmla="*/ 443 h 385"/>
                <a:gd name="T2" fmla="*/ 181 w 5762"/>
                <a:gd name="T3" fmla="*/ 423 h 385"/>
                <a:gd name="T4" fmla="*/ 181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4">
              <a:extLst>
                <a:ext uri="{FF2B5EF4-FFF2-40B4-BE49-F238E27FC236}">
                  <a16:creationId xmlns:a16="http://schemas.microsoft.com/office/drawing/2014/main" id="{F8A57F65-3ACF-4331-87A4-641360FA2CB0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>
                <a:gd name="T0" fmla="*/ 0 w 5761"/>
                <a:gd name="T1" fmla="*/ 28 h 189"/>
                <a:gd name="T2" fmla="*/ 181 w 5761"/>
                <a:gd name="T3" fmla="*/ 0 h 189"/>
                <a:gd name="T4" fmla="*/ 18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5">
            <a:extLst>
              <a:ext uri="{FF2B5EF4-FFF2-40B4-BE49-F238E27FC236}">
                <a16:creationId xmlns:a16="http://schemas.microsoft.com/office/drawing/2014/main" id="{1EBE13E1-5315-40EF-8A42-981090C51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8" name="Rectangle 26">
            <a:extLst>
              <a:ext uri="{FF2B5EF4-FFF2-40B4-BE49-F238E27FC236}">
                <a16:creationId xmlns:a16="http://schemas.microsoft.com/office/drawing/2014/main" id="{C43987A2-E209-4F2D-937D-E95D3D909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16A6B417-8981-4972-AC53-B2428969FE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3DE10B3B-A1CC-4E07-A635-A4D8FA7299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9DC3E89A-1F75-485B-A487-75CEF3FC58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fld id="{9EB388CE-AB49-44EF-9F39-B34A2E5706F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FD9144-2AA4-4273-98D9-E16B1986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C75AF5-03A9-4417-8CC6-7D7D352B2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559259-DCE3-46CF-9AEA-F36DAD847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5F77A1-DFC9-4666-82D2-FBEDAE5BB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DE38F-A4F2-4DAD-A67D-CF05DAB7E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7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72C378-E450-4484-9857-81157D9764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576" y="1812099"/>
            <a:ext cx="7772400" cy="1143000"/>
          </a:xfrm>
        </p:spPr>
        <p:txBody>
          <a:bodyPr/>
          <a:lstStyle/>
          <a:p>
            <a:r>
              <a:rPr lang="pt-BR" altLang="pt-BR" dirty="0"/>
              <a:t>Programação Orientada a Objetos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8255E42-652B-405E-A764-A1C0371589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altLang="pt-BR" dirty="0"/>
              <a:t>- </a:t>
            </a:r>
            <a:r>
              <a:rPr lang="pt-BR" altLang="pt-BR"/>
              <a:t>Associação Binária  </a:t>
            </a:r>
            <a:r>
              <a:rPr lang="pt-BR" altLang="pt-BR" dirty="0"/>
              <a:t>-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FC28E3-9894-4481-ADEA-F8E97649A540}"/>
              </a:ext>
            </a:extLst>
          </p:cNvPr>
          <p:cNvSpPr txBox="1"/>
          <p:nvPr/>
        </p:nvSpPr>
        <p:spPr>
          <a:xfrm>
            <a:off x="755576" y="33265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/>
              <a:t>Faculdade </a:t>
            </a:r>
            <a:r>
              <a:rPr lang="pt-BR" sz="3600" dirty="0"/>
              <a:t>de Tecnologia de Sorocaba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CB550D-11E4-4EE8-8C96-75B69A72EAD4}"/>
              </a:ext>
            </a:extLst>
          </p:cNvPr>
          <p:cNvSpPr txBox="1"/>
          <p:nvPr/>
        </p:nvSpPr>
        <p:spPr>
          <a:xfrm>
            <a:off x="4932040" y="638132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Dimas Ferreira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628800"/>
            <a:ext cx="7772400" cy="1058819"/>
          </a:xfrm>
        </p:spPr>
        <p:txBody>
          <a:bodyPr/>
          <a:lstStyle/>
          <a:p>
            <a:pPr lvl="1" algn="just"/>
            <a:r>
              <a:rPr lang="pt-BR" altLang="pt-BR" sz="2400" u="sng" dirty="0"/>
              <a:t>Associação Binária</a:t>
            </a:r>
            <a:r>
              <a:rPr lang="pt-BR" altLang="pt-BR" sz="2400" dirty="0"/>
              <a:t>: estabelece uma </a:t>
            </a:r>
            <a:r>
              <a:rPr lang="pt-BR" altLang="pt-BR" sz="2400" b="1" dirty="0">
                <a:solidFill>
                  <a:schemeClr val="bg2"/>
                </a:solidFill>
              </a:rPr>
              <a:t>ligação (apontamento)</a:t>
            </a:r>
            <a:r>
              <a:rPr lang="pt-BR" altLang="pt-BR" sz="2400" dirty="0"/>
              <a:t> entre objetos de duas classes distintas.</a:t>
            </a:r>
          </a:p>
        </p:txBody>
      </p:sp>
      <p:grpSp>
        <p:nvGrpSpPr>
          <p:cNvPr id="5126" name="Group 3"/>
          <p:cNvGrpSpPr>
            <a:grpSpLocks/>
          </p:cNvGrpSpPr>
          <p:nvPr/>
        </p:nvGrpSpPr>
        <p:grpSpPr bwMode="auto">
          <a:xfrm>
            <a:off x="1828800" y="3020938"/>
            <a:ext cx="6705600" cy="1200150"/>
            <a:chOff x="912" y="1872"/>
            <a:chExt cx="4224" cy="756"/>
          </a:xfrm>
        </p:grpSpPr>
        <p:sp>
          <p:nvSpPr>
            <p:cNvPr id="5134" name="Text Box 4"/>
            <p:cNvSpPr txBox="1">
              <a:spLocks noChangeArrowheads="1"/>
            </p:cNvSpPr>
            <p:nvPr/>
          </p:nvSpPr>
          <p:spPr bwMode="auto">
            <a:xfrm>
              <a:off x="3792" y="1872"/>
              <a:ext cx="1344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B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5" name="Text Box 5"/>
            <p:cNvSpPr txBox="1">
              <a:spLocks noChangeArrowheads="1"/>
            </p:cNvSpPr>
            <p:nvPr/>
          </p:nvSpPr>
          <p:spPr bwMode="auto">
            <a:xfrm>
              <a:off x="912" y="187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A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6" name="Line 6"/>
            <p:cNvSpPr>
              <a:spLocks noChangeShapeType="1"/>
            </p:cNvSpPr>
            <p:nvPr/>
          </p:nvSpPr>
          <p:spPr bwMode="auto">
            <a:xfrm>
              <a:off x="2256" y="225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548680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1357290" y="4449652"/>
            <a:ext cx="742955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93763" marR="0" lvl="1" indent="-4365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kumimoji="1" lang="pt-BR" altLang="pt-BR" b="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As associações binárias podem ser do</a:t>
            </a:r>
            <a:r>
              <a:rPr kumimoji="1" lang="pt-BR" altLang="pt-BR" b="0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tipo: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i="0" kern="0" dirty="0">
              <a:latin typeface="+mn-lt"/>
            </a:endParaRP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pt-BR" altLang="pt-BR" b="0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Associação binária </a:t>
            </a:r>
            <a:r>
              <a:rPr kumimoji="1" lang="pt-BR" altLang="pt-BR" i="0" kern="0" dirty="0">
                <a:latin typeface="+mn-lt"/>
              </a:rPr>
              <a:t>u</a:t>
            </a:r>
            <a:r>
              <a:rPr kumimoji="1" lang="pt-BR" altLang="pt-BR" b="0" i="0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nidirecional</a:t>
            </a:r>
            <a:endParaRPr kumimoji="1" lang="pt-BR" altLang="pt-BR" b="0" i="0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pt-BR" altLang="pt-BR" i="0" kern="0" dirty="0">
                <a:latin typeface="+mn-lt"/>
              </a:rPr>
              <a:t>Associação binária bidirecional</a:t>
            </a:r>
            <a:endParaRPr kumimoji="1" lang="pt-BR" altLang="pt-BR" b="0" i="0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sz="2000" i="0" u="sng" kern="0" baseline="0" dirty="0"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556792"/>
            <a:ext cx="7772400" cy="1008112"/>
          </a:xfrm>
        </p:spPr>
        <p:txBody>
          <a:bodyPr/>
          <a:lstStyle/>
          <a:p>
            <a:pPr lvl="1"/>
            <a:r>
              <a:rPr lang="pt-BR" altLang="pt-BR" sz="2000" u="sng" dirty="0"/>
              <a:t>Associação Binária Unidirecional</a:t>
            </a:r>
            <a:r>
              <a:rPr lang="pt-BR" altLang="pt-BR" sz="2000" dirty="0"/>
              <a:t>: indica que um objeto de uma classe aponta para um ou mais objetos de uma outra classe.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785918" y="2952105"/>
            <a:ext cx="6705600" cy="1196975"/>
            <a:chOff x="1056" y="3352"/>
            <a:chExt cx="4224" cy="754"/>
          </a:xfrm>
        </p:grpSpPr>
        <p:sp>
          <p:nvSpPr>
            <p:cNvPr id="5130" name="Text Box 9"/>
            <p:cNvSpPr txBox="1">
              <a:spLocks noChangeArrowheads="1"/>
            </p:cNvSpPr>
            <p:nvPr/>
          </p:nvSpPr>
          <p:spPr bwMode="auto">
            <a:xfrm>
              <a:off x="393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B</a:t>
              </a:r>
            </a:p>
            <a:p>
              <a:pPr algn="ctr"/>
              <a:endParaRPr lang="pt-BR" altLang="pt-BR" i="0" dirty="0"/>
            </a:p>
          </p:txBody>
        </p:sp>
        <p:sp>
          <p:nvSpPr>
            <p:cNvPr id="5131" name="Text Box 10"/>
            <p:cNvSpPr txBox="1">
              <a:spLocks noChangeArrowheads="1"/>
            </p:cNvSpPr>
            <p:nvPr/>
          </p:nvSpPr>
          <p:spPr bwMode="auto">
            <a:xfrm>
              <a:off x="105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A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2" name="Text Box 11"/>
            <p:cNvSpPr txBox="1">
              <a:spLocks noChangeArrowheads="1"/>
            </p:cNvSpPr>
            <p:nvPr/>
          </p:nvSpPr>
          <p:spPr bwMode="auto">
            <a:xfrm>
              <a:off x="2496" y="3463"/>
              <a:ext cx="13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i="0" dirty="0"/>
                <a:t>1                    1</a:t>
              </a:r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685800"/>
            <a:ext cx="7772400" cy="609600"/>
          </a:xfrm>
          <a:noFill/>
        </p:spPr>
        <p:txBody>
          <a:bodyPr/>
          <a:lstStyle/>
          <a:p>
            <a:r>
              <a:rPr lang="pt-BR" altLang="pt-BR"/>
              <a:t>Associação Binária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2480184" y="4533895"/>
            <a:ext cx="495427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2550" marR="0" lvl="1" indent="-190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kumimoji="1" lang="pt-BR" altLang="pt-BR" sz="2000" b="1" i="0" kern="0" dirty="0">
                <a:solidFill>
                  <a:srgbClr val="FF0000"/>
                </a:solidFill>
                <a:latin typeface="+mn-lt"/>
              </a:rPr>
              <a:t>u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m (1)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A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(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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 para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um (1)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B.</a:t>
            </a:r>
            <a:r>
              <a:rPr kumimoji="1" lang="pt-BR" altLang="pt-BR" sz="20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endParaRPr kumimoji="1" lang="pt-BR" altLang="pt-BR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928662" y="1714487"/>
            <a:ext cx="7772400" cy="1607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r>
              <a:rPr kumimoji="1" lang="pt-BR" altLang="pt-BR" sz="2000" b="1" i="0" dirty="0"/>
              <a:t> </a:t>
            </a:r>
            <a:r>
              <a:rPr kumimoji="1" lang="pt-BR" altLang="pt-BR" sz="2000" b="1" u="sng" dirty="0">
                <a:latin typeface="+mn-lt"/>
              </a:rPr>
              <a:t>Associação Binária Bidirecional</a:t>
            </a:r>
            <a:r>
              <a:rPr kumimoji="1" lang="pt-BR" altLang="pt-BR" sz="2000" dirty="0">
                <a:latin typeface="+mn-lt"/>
              </a:rPr>
              <a:t>: indica que um objeto de uma classe aponta para um ou mais objetos de uma outra classe. Contudo, o objeto apontado aponta para um ou mais objetos da classe cujo o objeto está realizando o apontamento.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724052" y="3600177"/>
            <a:ext cx="6705600" cy="1196975"/>
            <a:chOff x="1056" y="3352"/>
            <a:chExt cx="4224" cy="754"/>
          </a:xfrm>
        </p:grpSpPr>
        <p:sp>
          <p:nvSpPr>
            <p:cNvPr id="5130" name="Text Box 9"/>
            <p:cNvSpPr txBox="1">
              <a:spLocks noChangeArrowheads="1"/>
            </p:cNvSpPr>
            <p:nvPr/>
          </p:nvSpPr>
          <p:spPr bwMode="auto">
            <a:xfrm>
              <a:off x="393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D</a:t>
              </a:r>
            </a:p>
            <a:p>
              <a:pPr algn="ctr"/>
              <a:endParaRPr lang="pt-BR" altLang="pt-BR" i="0" dirty="0"/>
            </a:p>
          </p:txBody>
        </p:sp>
        <p:sp>
          <p:nvSpPr>
            <p:cNvPr id="5131" name="Text Box 10"/>
            <p:cNvSpPr txBox="1">
              <a:spLocks noChangeArrowheads="1"/>
            </p:cNvSpPr>
            <p:nvPr/>
          </p:nvSpPr>
          <p:spPr bwMode="auto">
            <a:xfrm>
              <a:off x="105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C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2" name="Text Box 11"/>
            <p:cNvSpPr txBox="1">
              <a:spLocks noChangeArrowheads="1"/>
            </p:cNvSpPr>
            <p:nvPr/>
          </p:nvSpPr>
          <p:spPr bwMode="auto">
            <a:xfrm>
              <a:off x="2400" y="3463"/>
              <a:ext cx="15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i="0" dirty="0"/>
                <a:t>1                    1.. *</a:t>
              </a:r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84984" y="722263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285984" y="5123454"/>
            <a:ext cx="5357850" cy="1185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2550" lvl="1" indent="-1905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1" lang="pt-BR" altLang="pt-BR" sz="2000" b="1" i="0" kern="0" dirty="0">
                <a:solidFill>
                  <a:srgbClr val="FF0000"/>
                </a:solidFill>
                <a:latin typeface="+mn-lt"/>
              </a:rPr>
              <a:t>u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m (1)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C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(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)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para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um ou mais  (1..*)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objetos da classe D. Contudo,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</a:rPr>
              <a:t>um (1)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da classe D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</a:t>
            </a:r>
            <a:r>
              <a:rPr kumimoji="1" lang="pt-BR" altLang="pt-BR" sz="2000" b="1" i="0" kern="0" dirty="0">
                <a:solidFill>
                  <a:srgbClr val="002060"/>
                </a:solidFill>
              </a:rPr>
              <a:t>(</a:t>
            </a:r>
            <a:r>
              <a:rPr kumimoji="1" lang="pt-BR" altLang="pt-BR" sz="2000" b="1" i="0" kern="0" dirty="0">
                <a:solidFill>
                  <a:srgbClr val="002060"/>
                </a:solidFill>
                <a:sym typeface="Wingdings" pitchFamily="2" charset="2"/>
              </a:rPr>
              <a:t>)</a:t>
            </a:r>
            <a:r>
              <a:rPr kumimoji="1" lang="pt-BR" altLang="pt-BR" sz="2000" b="1" i="0" kern="0" dirty="0">
                <a:sym typeface="Wingdings" pitchFamily="2" charset="2"/>
              </a:rPr>
              <a:t> </a:t>
            </a:r>
            <a:r>
              <a:rPr kumimoji="1" lang="pt-BR" altLang="pt-BR" sz="2000" b="1" i="0" kern="0" dirty="0"/>
              <a:t>para </a:t>
            </a:r>
            <a:r>
              <a:rPr kumimoji="1" lang="pt-BR" altLang="pt-BR" sz="2000" b="1" kern="0" dirty="0">
                <a:solidFill>
                  <a:srgbClr val="003300"/>
                </a:solidFill>
                <a:latin typeface="+mn-lt"/>
              </a:rPr>
              <a:t>um (1)</a:t>
            </a:r>
            <a:r>
              <a:rPr kumimoji="1" lang="pt-BR" altLang="pt-BR" sz="2000" b="1" i="0" kern="0" dirty="0"/>
              <a:t> objeto da classe C</a:t>
            </a:r>
            <a:endParaRPr kumimoji="1" lang="pt-BR" altLang="pt-BR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928662" y="1857364"/>
            <a:ext cx="7429552" cy="171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r>
              <a:rPr kumimoji="1" lang="pt-BR" altLang="pt-BR" sz="2000" i="0" dirty="0"/>
              <a:t> </a:t>
            </a:r>
            <a:r>
              <a:rPr kumimoji="1" lang="pt-BR" altLang="pt-BR" i="0" u="sng" dirty="0">
                <a:latin typeface="+mn-lt"/>
              </a:rPr>
              <a:t>Multiplicidade:</a:t>
            </a:r>
            <a:r>
              <a:rPr kumimoji="1" lang="pt-BR" altLang="pt-BR" b="1" i="0" dirty="0">
                <a:solidFill>
                  <a:schemeClr val="accent2"/>
                </a:solidFill>
                <a:latin typeface="+mn-lt"/>
              </a:rPr>
              <a:t> </a:t>
            </a:r>
            <a:r>
              <a:rPr kumimoji="1" lang="pt-BR" altLang="pt-BR" i="0" dirty="0">
                <a:latin typeface="+mn-lt"/>
              </a:rPr>
              <a:t>indica quantas instâncias (</a:t>
            </a:r>
            <a:r>
              <a:rPr kumimoji="1" lang="pt-BR" altLang="pt-BR" b="1" i="0" dirty="0">
                <a:solidFill>
                  <a:schemeClr val="bg2"/>
                </a:solidFill>
                <a:latin typeface="+mn-lt"/>
              </a:rPr>
              <a:t>objetos</a:t>
            </a:r>
            <a:r>
              <a:rPr kumimoji="1" lang="pt-BR" altLang="pt-BR" i="0" dirty="0">
                <a:latin typeface="+mn-lt"/>
              </a:rPr>
              <a:t>) de uma determinada classe  está associada com outras instâncias (</a:t>
            </a:r>
            <a:r>
              <a:rPr kumimoji="1" lang="pt-BR" altLang="pt-BR" b="1" i="0" dirty="0">
                <a:solidFill>
                  <a:schemeClr val="bg2"/>
                </a:solidFill>
                <a:latin typeface="+mn-lt"/>
              </a:rPr>
              <a:t>objetos</a:t>
            </a:r>
            <a:r>
              <a:rPr kumimoji="1" lang="pt-BR" altLang="pt-BR" i="0" dirty="0">
                <a:latin typeface="+mn-lt"/>
              </a:rPr>
              <a:t>) de uma outra classe.</a:t>
            </a:r>
          </a:p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endParaRPr kumimoji="1" lang="pt-BR" altLang="pt-BR" i="0" dirty="0"/>
          </a:p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endParaRPr kumimoji="1" lang="pt-BR" altLang="pt-BR" sz="2000" i="0" dirty="0"/>
          </a:p>
        </p:txBody>
      </p: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685800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4414" y="214290"/>
            <a:ext cx="7772400" cy="471470"/>
          </a:xfrm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3116"/>
            <a:ext cx="7779187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aixaDeTexto 5"/>
          <p:cNvSpPr txBox="1"/>
          <p:nvPr/>
        </p:nvSpPr>
        <p:spPr>
          <a:xfrm>
            <a:off x="1285852" y="1142984"/>
            <a:ext cx="3500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+mj-lt"/>
              </a:rPr>
              <a:t>Tipos de Multiplicidade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914400"/>
            <a:ext cx="7772400" cy="609600"/>
          </a:xfrm>
          <a:noFill/>
        </p:spPr>
        <p:txBody>
          <a:bodyPr/>
          <a:lstStyle/>
          <a:p>
            <a:r>
              <a:rPr lang="pt-BR" altLang="pt-BR"/>
              <a:t>Associação Binária</a:t>
            </a:r>
          </a:p>
        </p:txBody>
      </p:sp>
      <p:grpSp>
        <p:nvGrpSpPr>
          <p:cNvPr id="36" name="Grupo 35"/>
          <p:cNvGrpSpPr/>
          <p:nvPr/>
        </p:nvGrpSpPr>
        <p:grpSpPr>
          <a:xfrm>
            <a:off x="985552" y="1946984"/>
            <a:ext cx="7762912" cy="3969151"/>
            <a:chOff x="971600" y="1844824"/>
            <a:chExt cx="7762912" cy="3969151"/>
          </a:xfrm>
        </p:grpSpPr>
        <p:sp>
          <p:nvSpPr>
            <p:cNvPr id="2" name="CaixaDeTexto 1"/>
            <p:cNvSpPr txBox="1"/>
            <p:nvPr/>
          </p:nvSpPr>
          <p:spPr>
            <a:xfrm>
              <a:off x="4542656" y="522920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Horista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2757128" y="5220489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Mensalista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971600" y="5220489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Comissionado</a:t>
              </a: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2678956" y="2855615"/>
              <a:ext cx="1419944" cy="57338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tIns="144000" bIns="180000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5715000" y="1844824"/>
              <a:ext cx="3019512" cy="2062103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Departamento</a:t>
              </a:r>
            </a:p>
            <a:p>
              <a:pPr algn="ctr"/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sigla 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nome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Departamento(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,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getSigla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getNome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8" name="Conector reto 7"/>
            <p:cNvCxnSpPr/>
            <p:nvPr/>
          </p:nvCxnSpPr>
          <p:spPr bwMode="auto">
            <a:xfrm>
              <a:off x="5715000" y="2209800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Conector reto 20"/>
            <p:cNvCxnSpPr/>
            <p:nvPr/>
          </p:nvCxnSpPr>
          <p:spPr bwMode="auto">
            <a:xfrm>
              <a:off x="5715000" y="2996952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riângulo isósceles 15"/>
            <p:cNvSpPr/>
            <p:nvPr/>
          </p:nvSpPr>
          <p:spPr bwMode="auto">
            <a:xfrm rot="1920000">
              <a:off x="2410710" y="3660857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5" name="Triângulo isósceles 24"/>
            <p:cNvSpPr/>
            <p:nvPr/>
          </p:nvSpPr>
          <p:spPr bwMode="auto">
            <a:xfrm rot="60000">
              <a:off x="3331097" y="3683260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6" name="Triângulo isósceles 25"/>
            <p:cNvSpPr/>
            <p:nvPr/>
          </p:nvSpPr>
          <p:spPr bwMode="auto">
            <a:xfrm rot="-1920000">
              <a:off x="4375158" y="3660856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9" name="Conector reto 18"/>
            <p:cNvCxnSpPr>
              <a:stCxn id="16" idx="3"/>
            </p:cNvCxnSpPr>
            <p:nvPr/>
          </p:nvCxnSpPr>
          <p:spPr bwMode="auto">
            <a:xfrm flipH="1">
              <a:off x="1835696" y="3927005"/>
              <a:ext cx="596601" cy="115817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Conector reto 27"/>
            <p:cNvCxnSpPr>
              <a:stCxn id="25" idx="3"/>
            </p:cNvCxnSpPr>
            <p:nvPr/>
          </p:nvCxnSpPr>
          <p:spPr bwMode="auto">
            <a:xfrm>
              <a:off x="3426488" y="3971270"/>
              <a:ext cx="0" cy="11139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Conector reto 30"/>
            <p:cNvCxnSpPr/>
            <p:nvPr/>
          </p:nvCxnSpPr>
          <p:spPr bwMode="auto">
            <a:xfrm>
              <a:off x="4542656" y="3934623"/>
              <a:ext cx="874064" cy="11360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Conector reto 33"/>
            <p:cNvCxnSpPr>
              <a:stCxn id="12" idx="3"/>
            </p:cNvCxnSpPr>
            <p:nvPr/>
          </p:nvCxnSpPr>
          <p:spPr bwMode="auto">
            <a:xfrm flipV="1">
              <a:off x="4098900" y="3142307"/>
              <a:ext cx="16161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CaixaDeTexto 34"/>
            <p:cNvSpPr txBox="1"/>
            <p:nvPr/>
          </p:nvSpPr>
          <p:spPr>
            <a:xfrm>
              <a:off x="4075473" y="2825032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5441520" y="2843959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</p:grpSp>
      <p:sp>
        <p:nvSpPr>
          <p:cNvPr id="38" name="Texto Explicativo 1 (Ênfase) 37"/>
          <p:cNvSpPr/>
          <p:nvPr/>
        </p:nvSpPr>
        <p:spPr bwMode="auto">
          <a:xfrm>
            <a:off x="1071538" y="1571612"/>
            <a:ext cx="2227414" cy="1121672"/>
          </a:xfrm>
          <a:prstGeom prst="accentCallout1">
            <a:avLst>
              <a:gd name="adj1" fmla="val 25558"/>
              <a:gd name="adj2" fmla="val 103032"/>
              <a:gd name="adj3" fmla="val 124857"/>
              <a:gd name="adj4" fmla="val 15285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Um objeto funcionário (</a:t>
            </a:r>
            <a:r>
              <a:rPr kumimoji="0" lang="pt-BR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horista, mensalista, comissionado</a:t>
            </a: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) está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associado(aponta) com 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um(1)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objeto </a:t>
            </a:r>
            <a:r>
              <a:rPr lang="pt-BR" sz="1400" b="1" dirty="0"/>
              <a:t>d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epartamento</a:t>
            </a:r>
            <a:endParaRPr kumimoji="0" lang="pt-BR" sz="1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46" name="Texto Explicativo 1 (Ênfase) 45"/>
          <p:cNvSpPr/>
          <p:nvPr/>
        </p:nvSpPr>
        <p:spPr bwMode="auto">
          <a:xfrm>
            <a:off x="5625804" y="363727"/>
            <a:ext cx="2227414" cy="1121672"/>
          </a:xfrm>
          <a:prstGeom prst="accentCallout1">
            <a:avLst>
              <a:gd name="adj1" fmla="val 46262"/>
              <a:gd name="adj2" fmla="val -4485"/>
              <a:gd name="adj3" fmla="val 221757"/>
              <a:gd name="adj4" fmla="val -326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Um objeto </a:t>
            </a:r>
            <a:r>
              <a:rPr kumimoji="0" lang="pt-BR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departamento</a:t>
            </a: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está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associado(aponta) com 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charset="0"/>
              </a:rPr>
              <a:t>um ou mais(1..*)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objetos </a:t>
            </a:r>
            <a:r>
              <a:rPr kumimoji="0" lang="pt-BR" sz="140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funcionários</a:t>
            </a:r>
            <a:r>
              <a:rPr lang="pt-BR" sz="1400" dirty="0"/>
              <a:t> (</a:t>
            </a:r>
            <a:r>
              <a:rPr lang="pt-BR" sz="1400" b="1" dirty="0"/>
              <a:t>horista, mensalista, comissionado</a:t>
            </a:r>
            <a:r>
              <a:rPr lang="pt-BR" sz="1400" dirty="0"/>
              <a:t>) </a:t>
            </a:r>
            <a:endParaRPr kumimoji="0" lang="pt-BR" sz="14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screenshot&#10;&#10;Descrição gerada automaticamente">
            <a:extLst>
              <a:ext uri="{FF2B5EF4-FFF2-40B4-BE49-F238E27FC236}">
                <a16:creationId xmlns:a16="http://schemas.microsoft.com/office/drawing/2014/main" id="{347D862C-A627-472A-B3FB-D7CCADD50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" y="946286"/>
            <a:ext cx="9172896" cy="5435042"/>
          </a:xfrm>
          <a:prstGeom prst="rect">
            <a:avLst/>
          </a:prstGeom>
        </p:spPr>
      </p:pic>
      <p:sp>
        <p:nvSpPr>
          <p:cNvPr id="4" name="Título 2">
            <a:extLst>
              <a:ext uri="{FF2B5EF4-FFF2-40B4-BE49-F238E27FC236}">
                <a16:creationId xmlns:a16="http://schemas.microsoft.com/office/drawing/2014/main" id="{8FC49703-ED8F-44E4-8827-71255EEBE5F1}"/>
              </a:ext>
            </a:extLst>
          </p:cNvPr>
          <p:cNvSpPr txBox="1">
            <a:spLocks/>
          </p:cNvSpPr>
          <p:nvPr/>
        </p:nvSpPr>
        <p:spPr>
          <a:xfrm>
            <a:off x="0" y="-27384"/>
            <a:ext cx="9151580" cy="7395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pt-BR" dirty="0"/>
              <a:t>Diagrama de Classes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18D965-4040-4D8F-AB34-945A8C59EF5F}"/>
              </a:ext>
            </a:extLst>
          </p:cNvPr>
          <p:cNvCxnSpPr/>
          <p:nvPr/>
        </p:nvCxnSpPr>
        <p:spPr>
          <a:xfrm>
            <a:off x="8460432" y="29249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74CE59C-B89B-435A-923B-C5C4B12396CF}"/>
              </a:ext>
            </a:extLst>
          </p:cNvPr>
          <p:cNvCxnSpPr/>
          <p:nvPr/>
        </p:nvCxnSpPr>
        <p:spPr>
          <a:xfrm>
            <a:off x="8460432" y="29249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D4654E7-4F27-4B08-BBFE-80648888EDFE}"/>
              </a:ext>
            </a:extLst>
          </p:cNvPr>
          <p:cNvGrpSpPr/>
          <p:nvPr/>
        </p:nvGrpSpPr>
        <p:grpSpPr>
          <a:xfrm>
            <a:off x="2771800" y="982970"/>
            <a:ext cx="3456384" cy="1894869"/>
            <a:chOff x="2771800" y="982970"/>
            <a:chExt cx="3456384" cy="1894869"/>
          </a:xfrm>
        </p:grpSpPr>
        <p:sp>
          <p:nvSpPr>
            <p:cNvPr id="23" name="Texto Explicativo 1 (Ênfase) 37">
              <a:extLst>
                <a:ext uri="{FF2B5EF4-FFF2-40B4-BE49-F238E27FC236}">
                  <a16:creationId xmlns:a16="http://schemas.microsoft.com/office/drawing/2014/main" id="{1AFB2CAB-F3D2-43D8-AA76-1510446F9DCD}"/>
                </a:ext>
              </a:extLst>
            </p:cNvPr>
            <p:cNvSpPr/>
            <p:nvPr/>
          </p:nvSpPr>
          <p:spPr bwMode="auto">
            <a:xfrm>
              <a:off x="2771800" y="982970"/>
              <a:ext cx="3456384" cy="667543"/>
            </a:xfrm>
            <a:prstGeom prst="accentCallout1">
              <a:avLst>
                <a:gd name="adj1" fmla="val 25558"/>
                <a:gd name="adj2" fmla="val 103032"/>
                <a:gd name="adj3" fmla="val 311944"/>
                <a:gd name="adj4" fmla="val 118767"/>
              </a:avLst>
            </a:prstGeom>
            <a:solidFill>
              <a:schemeClr val="accent1"/>
            </a:solidFill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i="1" dirty="0">
                  <a:latin typeface="Times New Roman" charset="0"/>
                </a:rPr>
                <a:t>Implementação da multiplicidade </a:t>
              </a:r>
              <a:r>
                <a:rPr lang="pt-BR" sz="1200" b="1" i="1" dirty="0">
                  <a:solidFill>
                    <a:srgbClr val="FF0000"/>
                  </a:solidFill>
                  <a:latin typeface="Times New Roman" charset="0"/>
                </a:rPr>
                <a:t>1 (um) </a:t>
              </a:r>
              <a:r>
                <a:rPr lang="pt-BR" sz="1200" i="1" dirty="0">
                  <a:latin typeface="Times New Roman" charset="0"/>
                </a:rPr>
                <a:t>com a definição de </a:t>
              </a:r>
              <a:r>
                <a:rPr lang="pt-BR" sz="1200" b="1" i="1" dirty="0">
                  <a:latin typeface="Times New Roman" charset="0"/>
                </a:rPr>
                <a:t>um ponteiro </a:t>
              </a:r>
              <a:r>
                <a:rPr lang="pt-BR" sz="1200" i="1" dirty="0">
                  <a:latin typeface="Times New Roman" charset="0"/>
                </a:rPr>
                <a:t>para a classe Departamento</a:t>
              </a:r>
              <a:endParaRPr lang="pt-BR" sz="1200" b="1" i="1" dirty="0">
                <a:latin typeface="Times New Roman" charset="0"/>
              </a:endParaRPr>
            </a:p>
          </p:txBody>
        </p: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62DE9187-169B-4707-AB5A-604D50FFA3C0}"/>
                </a:ext>
              </a:extLst>
            </p:cNvPr>
            <p:cNvCxnSpPr>
              <a:cxnSpLocks/>
            </p:cNvCxnSpPr>
            <p:nvPr/>
          </p:nvCxnSpPr>
          <p:spPr>
            <a:xfrm>
              <a:off x="3743908" y="2877839"/>
              <a:ext cx="151216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62EAB0C-B31C-45B2-A521-4425BBC9A92E}"/>
              </a:ext>
            </a:extLst>
          </p:cNvPr>
          <p:cNvGrpSpPr/>
          <p:nvPr/>
        </p:nvGrpSpPr>
        <p:grpSpPr>
          <a:xfrm>
            <a:off x="6614817" y="2854979"/>
            <a:ext cx="2478829" cy="2342963"/>
            <a:chOff x="6614817" y="2854979"/>
            <a:chExt cx="2478829" cy="2342963"/>
          </a:xfrm>
        </p:grpSpPr>
        <p:sp>
          <p:nvSpPr>
            <p:cNvPr id="25" name="Texto Explicativo 1 (Ênfase) 45">
              <a:extLst>
                <a:ext uri="{FF2B5EF4-FFF2-40B4-BE49-F238E27FC236}">
                  <a16:creationId xmlns:a16="http://schemas.microsoft.com/office/drawing/2014/main" id="{033EBEDD-4C88-4A9A-9526-6DE85FD56AA1}"/>
                </a:ext>
              </a:extLst>
            </p:cNvPr>
            <p:cNvSpPr/>
            <p:nvPr/>
          </p:nvSpPr>
          <p:spPr bwMode="auto">
            <a:xfrm>
              <a:off x="6614817" y="4405854"/>
              <a:ext cx="2478829" cy="792088"/>
            </a:xfrm>
            <a:prstGeom prst="accentCallout1">
              <a:avLst>
                <a:gd name="adj1" fmla="val 46262"/>
                <a:gd name="adj2" fmla="val -4485"/>
                <a:gd name="adj3" fmla="val -157283"/>
                <a:gd name="adj4" fmla="val -25508"/>
              </a:avLst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i="1" dirty="0">
                  <a:latin typeface="Times New Roman" charset="0"/>
                </a:rPr>
                <a:t>Implementação da multiplicidade </a:t>
              </a:r>
              <a:r>
                <a:rPr lang="pt-BR" sz="1200" b="1" i="1" dirty="0">
                  <a:solidFill>
                    <a:srgbClr val="FF0000"/>
                  </a:solidFill>
                  <a:latin typeface="Times New Roman" charset="0"/>
                </a:rPr>
                <a:t>1..* (um ou  mais) </a:t>
              </a:r>
              <a:r>
                <a:rPr lang="pt-BR" sz="1200" i="1" dirty="0">
                  <a:latin typeface="Times New Roman" charset="0"/>
                </a:rPr>
                <a:t>com a definição de </a:t>
              </a:r>
              <a:r>
                <a:rPr lang="pt-BR" sz="1200" b="1" i="1" dirty="0">
                  <a:latin typeface="Times New Roman" charset="0"/>
                </a:rPr>
                <a:t>uma matriz de ponteiros </a:t>
              </a:r>
              <a:r>
                <a:rPr lang="pt-BR" sz="1200" i="1" dirty="0">
                  <a:latin typeface="Times New Roman" charset="0"/>
                </a:rPr>
                <a:t>para a classe </a:t>
              </a:r>
              <a:r>
                <a:rPr lang="pt-BR" sz="1200" i="1" dirty="0" err="1">
                  <a:latin typeface="Times New Roman" charset="0"/>
                </a:rPr>
                <a:t>Funcionario</a:t>
              </a:r>
              <a:endParaRPr lang="pt-BR" sz="1200" b="1" i="1" dirty="0">
                <a:latin typeface="Times New Roman" charset="0"/>
              </a:endParaRPr>
            </a:p>
            <a:p>
              <a:pPr algn="ctr"/>
              <a:endParaRPr lang="pt-BR" sz="1200" i="1" dirty="0">
                <a:latin typeface="Times New Roman" charset="0"/>
              </a:endParaRPr>
            </a:p>
          </p:txBody>
        </p: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AC5174CF-D301-4D7A-933A-261EABF8ABFF}"/>
                </a:ext>
              </a:extLst>
            </p:cNvPr>
            <p:cNvCxnSpPr>
              <a:cxnSpLocks/>
            </p:cNvCxnSpPr>
            <p:nvPr/>
          </p:nvCxnSpPr>
          <p:spPr>
            <a:xfrm>
              <a:off x="7121007" y="2854979"/>
              <a:ext cx="151216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F548ED2-4359-46E1-B0BE-7AC9340B27DE}"/>
              </a:ext>
            </a:extLst>
          </p:cNvPr>
          <p:cNvGrpSpPr/>
          <p:nvPr/>
        </p:nvGrpSpPr>
        <p:grpSpPr>
          <a:xfrm>
            <a:off x="8485180" y="2761928"/>
            <a:ext cx="57150" cy="69850"/>
            <a:chOff x="0" y="0"/>
            <a:chExt cx="133642" cy="140676"/>
          </a:xfrm>
        </p:grpSpPr>
        <p:sp>
          <p:nvSpPr>
            <p:cNvPr id="14" name="Colchete Esquerdo 13">
              <a:extLst>
                <a:ext uri="{FF2B5EF4-FFF2-40B4-BE49-F238E27FC236}">
                  <a16:creationId xmlns:a16="http://schemas.microsoft.com/office/drawing/2014/main" id="{E76CFF22-BC0A-4041-92C9-08832317EDFF}"/>
                </a:ext>
              </a:extLst>
            </p:cNvPr>
            <p:cNvSpPr/>
            <p:nvPr/>
          </p:nvSpPr>
          <p:spPr>
            <a:xfrm flipH="1">
              <a:off x="87923" y="0"/>
              <a:ext cx="45719" cy="14067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15" name="Colchete Esquerdo 14">
              <a:extLst>
                <a:ext uri="{FF2B5EF4-FFF2-40B4-BE49-F238E27FC236}">
                  <a16:creationId xmlns:a16="http://schemas.microsoft.com/office/drawing/2014/main" id="{8804ACC8-7DA0-4DAC-9BB3-B466AA2DFAEC}"/>
                </a:ext>
              </a:extLst>
            </p:cNvPr>
            <p:cNvSpPr/>
            <p:nvPr/>
          </p:nvSpPr>
          <p:spPr>
            <a:xfrm rot="10800000" flipH="1">
              <a:off x="0" y="0"/>
              <a:ext cx="45719" cy="14067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736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116632"/>
            <a:ext cx="7772400" cy="720080"/>
          </a:xfrm>
        </p:spPr>
        <p:txBody>
          <a:bodyPr/>
          <a:lstStyle/>
          <a:p>
            <a:pPr algn="ctr"/>
            <a:r>
              <a:rPr lang="pt-BR" sz="3600" dirty="0"/>
              <a:t>Implementação da multiplicidade </a:t>
            </a:r>
            <a:r>
              <a:rPr lang="pt-BR" sz="3600" dirty="0">
                <a:solidFill>
                  <a:srgbClr val="FF0000"/>
                </a:solidFill>
              </a:rPr>
              <a:t>1..*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1600" y="846923"/>
            <a:ext cx="8136904" cy="4886334"/>
          </a:xfrm>
        </p:spPr>
        <p:txBody>
          <a:bodyPr/>
          <a:lstStyle/>
          <a:p>
            <a:pPr marL="0" indent="0" algn="just">
              <a:buNone/>
            </a:pPr>
            <a:r>
              <a:rPr lang="pt-BR" sz="2800" dirty="0"/>
              <a:t>       </a:t>
            </a:r>
            <a:r>
              <a:rPr lang="pt-BR" sz="2500" dirty="0"/>
              <a:t>Para implementar um agrupamento de objetos a partir da representação </a:t>
            </a:r>
            <a:r>
              <a:rPr lang="pt-BR" sz="2800" dirty="0">
                <a:solidFill>
                  <a:srgbClr val="FF0000"/>
                </a:solidFill>
              </a:rPr>
              <a:t>1..* </a:t>
            </a:r>
            <a:r>
              <a:rPr lang="pt-BR" sz="2500" dirty="0"/>
              <a:t>pode ser utilizado uma matriz de objetos que representa um </a:t>
            </a:r>
            <a:r>
              <a:rPr lang="pt-BR" sz="2500" u="sng" dirty="0"/>
              <a:t>agrupamento de ponteiros</a:t>
            </a:r>
            <a:r>
              <a:rPr lang="pt-BR" sz="2500" dirty="0"/>
              <a:t> de objetos instanciados a partir de uma determinada classe.</a:t>
            </a:r>
          </a:p>
          <a:p>
            <a:pPr marL="0" indent="0" algn="just">
              <a:buNone/>
            </a:pPr>
            <a:r>
              <a:rPr lang="pt-BR" sz="2500" dirty="0"/>
              <a:t>        Para agrupar objetos instanciados a partir de várias </a:t>
            </a:r>
            <a:r>
              <a:rPr lang="pt-BR" sz="2500" b="1" dirty="0">
                <a:solidFill>
                  <a:schemeClr val="accent6">
                    <a:lumMod val="75000"/>
                  </a:schemeClr>
                </a:solidFill>
              </a:rPr>
              <a:t>subclasses</a:t>
            </a:r>
            <a:r>
              <a:rPr lang="pt-BR" sz="2500" dirty="0"/>
              <a:t> (</a:t>
            </a:r>
            <a:r>
              <a:rPr lang="pt-BR" sz="2500" b="1" dirty="0" err="1"/>
              <a:t>FuncionarioHorista</a:t>
            </a:r>
            <a:r>
              <a:rPr lang="pt-BR" sz="2500" b="1" dirty="0"/>
              <a:t>, </a:t>
            </a:r>
            <a:r>
              <a:rPr lang="pt-BR" sz="2500" b="1" dirty="0" err="1"/>
              <a:t>FuncionarioMensalista</a:t>
            </a:r>
            <a:r>
              <a:rPr lang="pt-BR" sz="2500" b="1" dirty="0"/>
              <a:t>, </a:t>
            </a:r>
            <a:r>
              <a:rPr lang="pt-BR" sz="2500" b="1" dirty="0" err="1"/>
              <a:t>FuncionarioComissionado</a:t>
            </a:r>
            <a:r>
              <a:rPr lang="pt-BR" sz="2500" dirty="0"/>
              <a:t>) é necessário criar uma matriz de objetos a partir da </a:t>
            </a:r>
            <a:r>
              <a:rPr lang="pt-BR" sz="2500" b="1" dirty="0">
                <a:solidFill>
                  <a:srgbClr val="FF0000"/>
                </a:solidFill>
              </a:rPr>
              <a:t>superclasse </a:t>
            </a:r>
            <a:r>
              <a:rPr lang="pt-BR" sz="2500" dirty="0"/>
              <a:t>(</a:t>
            </a:r>
            <a:r>
              <a:rPr lang="pt-BR" sz="2500" b="1" dirty="0" err="1"/>
              <a:t>Funcionario</a:t>
            </a:r>
            <a:r>
              <a:rPr lang="pt-BR" sz="2500" dirty="0"/>
              <a:t>) que vai possibilitar armazenar os endereços de qualquer objeto instanciado a partir de uma determinada </a:t>
            </a:r>
            <a:r>
              <a:rPr lang="pt-BR" sz="2500" b="1" dirty="0">
                <a:solidFill>
                  <a:schemeClr val="accent6">
                    <a:lumMod val="75000"/>
                  </a:schemeClr>
                </a:solidFill>
              </a:rPr>
              <a:t>subclasse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endParaRPr lang="pt-BR" sz="25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1CA940-9A50-4C36-BAFF-D8D04715F0DB}"/>
              </a:ext>
            </a:extLst>
          </p:cNvPr>
          <p:cNvSpPr txBox="1"/>
          <p:nvPr/>
        </p:nvSpPr>
        <p:spPr>
          <a:xfrm>
            <a:off x="2411760" y="5877272"/>
            <a:ext cx="5364596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      </a:t>
            </a:r>
            <a:r>
              <a:rPr lang="pt-BR" sz="2800" b="1" dirty="0" err="1"/>
              <a:t>funcionarios</a:t>
            </a:r>
            <a:r>
              <a:rPr lang="pt-BR" sz="2800" b="1" dirty="0"/>
              <a:t> : </a:t>
            </a:r>
            <a:r>
              <a:rPr lang="pt-BR" sz="2800" b="1" dirty="0" err="1"/>
              <a:t>Funcionario</a:t>
            </a:r>
            <a:r>
              <a:rPr lang="pt-BR" sz="2800" b="1" dirty="0"/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177311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14C595-80DE-E3B2-74BD-AD1229C28179}"/>
              </a:ext>
            </a:extLst>
          </p:cNvPr>
          <p:cNvSpPr txBox="1"/>
          <p:nvPr/>
        </p:nvSpPr>
        <p:spPr>
          <a:xfrm>
            <a:off x="1331640" y="476672"/>
            <a:ext cx="7344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método </a:t>
            </a:r>
            <a:r>
              <a:rPr lang="pt-BR" u="sng" dirty="0" err="1"/>
              <a:t>listarFuncionarios</a:t>
            </a:r>
            <a:r>
              <a:rPr lang="pt-BR" dirty="0"/>
              <a:t> da classe Departamento deve fazer a exibição dos dados conforme </a:t>
            </a:r>
            <a:r>
              <a:rPr lang="pt-BR" dirty="0" err="1"/>
              <a:t>lay-out</a:t>
            </a:r>
            <a:r>
              <a:rPr lang="pt-BR" dirty="0"/>
              <a:t> abaixo:</a:t>
            </a:r>
          </a:p>
          <a:p>
            <a:endParaRPr lang="pt-BR" dirty="0"/>
          </a:p>
          <a:p>
            <a:r>
              <a:rPr lang="pt-BR" sz="2000" b="1" dirty="0"/>
              <a:t>Sigla: </a:t>
            </a:r>
            <a:r>
              <a:rPr lang="pt-BR" sz="2000" dirty="0" err="1">
                <a:solidFill>
                  <a:srgbClr val="0070C0"/>
                </a:solidFill>
              </a:rPr>
              <a:t>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Nome:</a:t>
            </a:r>
            <a:r>
              <a:rPr lang="pt-BR" sz="2000" dirty="0"/>
              <a:t> </a:t>
            </a:r>
            <a:r>
              <a:rPr lang="pt-BR" sz="2000" dirty="0" err="1">
                <a:solidFill>
                  <a:srgbClr val="0070C0"/>
                </a:solidFill>
              </a:rPr>
              <a:t>xxxxxxxxxxxxxxxxxxxxxx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 err="1"/>
              <a:t>Qtde</a:t>
            </a:r>
            <a:r>
              <a:rPr lang="pt-BR" sz="2000" b="1" dirty="0"/>
              <a:t>. de Funcionários: </a:t>
            </a:r>
            <a:r>
              <a:rPr lang="pt-BR" sz="2000" dirty="0">
                <a:solidFill>
                  <a:srgbClr val="0070C0"/>
                </a:solidFill>
              </a:rPr>
              <a:t>99</a:t>
            </a:r>
          </a:p>
          <a:p>
            <a:endParaRPr lang="pt-BR" sz="2000" dirty="0"/>
          </a:p>
          <a:p>
            <a:r>
              <a:rPr lang="pt-BR" sz="2000" b="1" dirty="0"/>
              <a:t>Registro		Nome		   Cargo		</a:t>
            </a: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572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AD96BA5-14CD-49D3-A292-69CF699A06C2}"/>
              </a:ext>
            </a:extLst>
          </p:cNvPr>
          <p:cNvGrpSpPr/>
          <p:nvPr/>
        </p:nvGrpSpPr>
        <p:grpSpPr>
          <a:xfrm>
            <a:off x="985552" y="89901"/>
            <a:ext cx="7762912" cy="6723475"/>
            <a:chOff x="985552" y="89901"/>
            <a:chExt cx="7762912" cy="6723475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B69A38F-D1E8-4EFC-98DF-E8D2A200EB9B}"/>
                </a:ext>
              </a:extLst>
            </p:cNvPr>
            <p:cNvSpPr txBox="1"/>
            <p:nvPr/>
          </p:nvSpPr>
          <p:spPr>
            <a:xfrm>
              <a:off x="4556608" y="6228601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Horista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C378556-F32D-46D9-A4CB-18995481389D}"/>
                </a:ext>
              </a:extLst>
            </p:cNvPr>
            <p:cNvSpPr txBox="1"/>
            <p:nvPr/>
          </p:nvSpPr>
          <p:spPr>
            <a:xfrm>
              <a:off x="2771080" y="621989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Mensalista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CE0794A-64D2-4AF4-8F78-1072ECA5C58C}"/>
                </a:ext>
              </a:extLst>
            </p:cNvPr>
            <p:cNvSpPr txBox="1"/>
            <p:nvPr/>
          </p:nvSpPr>
          <p:spPr>
            <a:xfrm>
              <a:off x="985552" y="621989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Comissionado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4EC7861-BD04-45EF-AE92-A01209C1FD5D}"/>
                </a:ext>
              </a:extLst>
            </p:cNvPr>
            <p:cNvSpPr txBox="1"/>
            <p:nvPr/>
          </p:nvSpPr>
          <p:spPr>
            <a:xfrm>
              <a:off x="2692908" y="4007743"/>
              <a:ext cx="1419944" cy="57338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tIns="144000" bIns="180000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0178BD1-3F78-4E5F-BE1D-C9E34B908888}"/>
                </a:ext>
              </a:extLst>
            </p:cNvPr>
            <p:cNvSpPr txBox="1"/>
            <p:nvPr/>
          </p:nvSpPr>
          <p:spPr>
            <a:xfrm>
              <a:off x="5728952" y="2844225"/>
              <a:ext cx="3019512" cy="2308324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Departamento</a:t>
              </a:r>
            </a:p>
            <a:p>
              <a:pPr algn="ctr"/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sigla 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nome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Departamento(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,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getSigla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getNome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dirty="0">
                  <a:solidFill>
                    <a:srgbClr val="120C06"/>
                  </a:solidFill>
                </a:rPr>
                <a:t>+ </a:t>
              </a:r>
              <a:r>
                <a:rPr lang="pt-BR" sz="1600" b="1" dirty="0" err="1">
                  <a:solidFill>
                    <a:srgbClr val="120C06"/>
                  </a:solidFill>
                </a:rPr>
                <a:t>listarFuncionarios</a:t>
              </a:r>
              <a:r>
                <a:rPr lang="pt-BR" sz="1600" b="1" dirty="0">
                  <a:solidFill>
                    <a:srgbClr val="120C06"/>
                  </a:solidFill>
                </a:rPr>
                <a:t>( )  : </a:t>
              </a:r>
              <a:r>
                <a:rPr lang="pt-BR" sz="1600" b="1" dirty="0" err="1">
                  <a:solidFill>
                    <a:srgbClr val="120C06"/>
                  </a:solidFill>
                </a:rPr>
                <a:t>void</a:t>
              </a:r>
              <a:endParaRPr lang="pt-BR" sz="16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C31D24C-229A-45BD-AE81-A3D15ACEAEDB}"/>
                </a:ext>
              </a:extLst>
            </p:cNvPr>
            <p:cNvCxnSpPr/>
            <p:nvPr/>
          </p:nvCxnSpPr>
          <p:spPr bwMode="auto">
            <a:xfrm>
              <a:off x="5728952" y="3209201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4A396B3-B0D5-403E-9EEB-3647123EFDDB}"/>
                </a:ext>
              </a:extLst>
            </p:cNvPr>
            <p:cNvCxnSpPr/>
            <p:nvPr/>
          </p:nvCxnSpPr>
          <p:spPr bwMode="auto">
            <a:xfrm>
              <a:off x="5728952" y="3996353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riângulo isósceles 11">
              <a:extLst>
                <a:ext uri="{FF2B5EF4-FFF2-40B4-BE49-F238E27FC236}">
                  <a16:creationId xmlns:a16="http://schemas.microsoft.com/office/drawing/2014/main" id="{46069CD2-716D-4B36-B793-DCDD939EC6B5}"/>
                </a:ext>
              </a:extLst>
            </p:cNvPr>
            <p:cNvSpPr/>
            <p:nvPr/>
          </p:nvSpPr>
          <p:spPr bwMode="auto">
            <a:xfrm rot="1920000">
              <a:off x="2424662" y="4660258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" name="Triângulo isósceles 12">
              <a:extLst>
                <a:ext uri="{FF2B5EF4-FFF2-40B4-BE49-F238E27FC236}">
                  <a16:creationId xmlns:a16="http://schemas.microsoft.com/office/drawing/2014/main" id="{E9386915-9573-43A1-98A2-CA10CB43F4A9}"/>
                </a:ext>
              </a:extLst>
            </p:cNvPr>
            <p:cNvSpPr/>
            <p:nvPr/>
          </p:nvSpPr>
          <p:spPr bwMode="auto">
            <a:xfrm rot="60000">
              <a:off x="3345049" y="4682661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4" name="Triângulo isósceles 13">
              <a:extLst>
                <a:ext uri="{FF2B5EF4-FFF2-40B4-BE49-F238E27FC236}">
                  <a16:creationId xmlns:a16="http://schemas.microsoft.com/office/drawing/2014/main" id="{323AC52A-5E6B-4DCA-A2D1-DD3A9F849374}"/>
                </a:ext>
              </a:extLst>
            </p:cNvPr>
            <p:cNvSpPr/>
            <p:nvPr/>
          </p:nvSpPr>
          <p:spPr bwMode="auto">
            <a:xfrm rot="19680000">
              <a:off x="4057377" y="4660257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8FBC432-D4F5-40EC-BF9D-DFD1B2E3E3E6}"/>
                </a:ext>
              </a:extLst>
            </p:cNvPr>
            <p:cNvCxnSpPr>
              <a:stCxn id="12" idx="3"/>
            </p:cNvCxnSpPr>
            <p:nvPr/>
          </p:nvCxnSpPr>
          <p:spPr bwMode="auto">
            <a:xfrm flipH="1">
              <a:off x="1849648" y="4926406"/>
              <a:ext cx="596601" cy="115817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FDA78DF8-5A48-490B-9E03-AF654175E2F8}"/>
                </a:ext>
              </a:extLst>
            </p:cNvPr>
            <p:cNvCxnSpPr>
              <a:stCxn id="13" idx="3"/>
            </p:cNvCxnSpPr>
            <p:nvPr/>
          </p:nvCxnSpPr>
          <p:spPr bwMode="auto">
            <a:xfrm>
              <a:off x="3440440" y="4970671"/>
              <a:ext cx="0" cy="11139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1C4891F-D4FA-447F-B401-E3E8A62AA10E}"/>
                </a:ext>
              </a:extLst>
            </p:cNvPr>
            <p:cNvCxnSpPr/>
            <p:nvPr/>
          </p:nvCxnSpPr>
          <p:spPr bwMode="auto">
            <a:xfrm>
              <a:off x="4224875" y="4934024"/>
              <a:ext cx="874064" cy="11360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3CE307B-B493-4912-A4FB-BD47EA24A4D5}"/>
                </a:ext>
              </a:extLst>
            </p:cNvPr>
            <p:cNvCxnSpPr>
              <a:stCxn id="8" idx="3"/>
            </p:cNvCxnSpPr>
            <p:nvPr/>
          </p:nvCxnSpPr>
          <p:spPr bwMode="auto">
            <a:xfrm flipV="1">
              <a:off x="4112852" y="4294435"/>
              <a:ext cx="16161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46CE8BA-9FB1-4F73-8BB6-F2B0F6F5F812}"/>
                </a:ext>
              </a:extLst>
            </p:cNvPr>
            <p:cNvSpPr txBox="1"/>
            <p:nvPr/>
          </p:nvSpPr>
          <p:spPr>
            <a:xfrm>
              <a:off x="4089425" y="3824433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B129E2C3-021A-4CB2-A7CF-8F52A78E2140}"/>
                </a:ext>
              </a:extLst>
            </p:cNvPr>
            <p:cNvSpPr txBox="1"/>
            <p:nvPr/>
          </p:nvSpPr>
          <p:spPr>
            <a:xfrm>
              <a:off x="5455472" y="3843360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B5BF9A03-254D-4CD5-9E2D-0692C6C3707F}"/>
                </a:ext>
              </a:extLst>
            </p:cNvPr>
            <p:cNvSpPr txBox="1"/>
            <p:nvPr/>
          </p:nvSpPr>
          <p:spPr>
            <a:xfrm>
              <a:off x="2005385" y="89901"/>
              <a:ext cx="3019512" cy="2893100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120C06"/>
                  </a:solidFill>
                </a:rPr>
                <a:t>Projeto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-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codigo</a:t>
              </a:r>
              <a:r>
                <a:rPr lang="pt-BR" sz="1400" b="1" i="0" dirty="0">
                  <a:solidFill>
                    <a:srgbClr val="120C06"/>
                  </a:solidFill>
                </a:rPr>
                <a:t> 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descricao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dtInicio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dtTermino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Projeto(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r>
                <a:rPr lang="pt-BR" sz="1400" b="1" i="0" dirty="0">
                  <a:solidFill>
                    <a:srgbClr val="120C06"/>
                  </a:solidFill>
                </a:rPr>
                <a:t>,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setDtInicio</a:t>
              </a:r>
              <a:r>
                <a:rPr lang="pt-BR" sz="1400" b="1" dirty="0">
                  <a:solidFill>
                    <a:srgbClr val="120C06"/>
                  </a:solidFill>
                </a:rPr>
                <a:t>(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dirty="0">
                  <a:solidFill>
                    <a:srgbClr val="120C06"/>
                  </a:solidFill>
                </a:rPr>
                <a:t>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void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setDtTermino</a:t>
              </a:r>
              <a:r>
                <a:rPr lang="pt-BR" sz="1400" b="1" i="0" dirty="0">
                  <a:solidFill>
                    <a:srgbClr val="120C06"/>
                  </a:solidFill>
                </a:rPr>
                <a:t>(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i="0" dirty="0">
                  <a:solidFill>
                    <a:srgbClr val="120C06"/>
                  </a:solidFill>
                </a:rPr>
                <a:t>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void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getCodigo</a:t>
              </a:r>
              <a:r>
                <a:rPr lang="pt-BR" sz="1400" b="1" i="0" dirty="0">
                  <a:solidFill>
                    <a:srgbClr val="120C06"/>
                  </a:solidFill>
                </a:rPr>
                <a:t>( 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getDescricao</a:t>
              </a:r>
              <a:r>
                <a:rPr lang="pt-BR" sz="1400" b="1" i="0" dirty="0">
                  <a:solidFill>
                    <a:srgbClr val="120C06"/>
                  </a:solidFill>
                </a:rPr>
                <a:t>( 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getDtInicio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getDtTermino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listarFuncionarios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void</a:t>
              </a:r>
              <a:endParaRPr lang="pt-BR" sz="14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89C47E80-F791-4742-B7C0-3D85CC05BB62}"/>
                </a:ext>
              </a:extLst>
            </p:cNvPr>
            <p:cNvCxnSpPr/>
            <p:nvPr/>
          </p:nvCxnSpPr>
          <p:spPr bwMode="auto">
            <a:xfrm>
              <a:off x="2005385" y="348392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A57F87FD-71EE-49F1-B6DC-B5C8A82FCCEB}"/>
                </a:ext>
              </a:extLst>
            </p:cNvPr>
            <p:cNvCxnSpPr>
              <a:endCxn id="8" idx="0"/>
            </p:cNvCxnSpPr>
            <p:nvPr/>
          </p:nvCxnSpPr>
          <p:spPr bwMode="auto">
            <a:xfrm>
              <a:off x="3402880" y="3020047"/>
              <a:ext cx="0" cy="9876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555239F-E784-418F-BF4A-A195F9F4D4C2}"/>
                </a:ext>
              </a:extLst>
            </p:cNvPr>
            <p:cNvSpPr txBox="1"/>
            <p:nvPr/>
          </p:nvSpPr>
          <p:spPr>
            <a:xfrm>
              <a:off x="2771080" y="3675457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73EAF0F2-7FD6-43A2-A3EE-23FEFB01715D}"/>
                </a:ext>
              </a:extLst>
            </p:cNvPr>
            <p:cNvSpPr txBox="1"/>
            <p:nvPr/>
          </p:nvSpPr>
          <p:spPr>
            <a:xfrm>
              <a:off x="3129622" y="2924944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BB5F6939-C507-4429-8B55-5050E7A3C335}"/>
                </a:ext>
              </a:extLst>
            </p:cNvPr>
            <p:cNvCxnSpPr/>
            <p:nvPr/>
          </p:nvCxnSpPr>
          <p:spPr bwMode="auto">
            <a:xfrm>
              <a:off x="2013500" y="1210820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5638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14C595-80DE-E3B2-74BD-AD1229C28179}"/>
              </a:ext>
            </a:extLst>
          </p:cNvPr>
          <p:cNvSpPr txBox="1"/>
          <p:nvPr/>
        </p:nvSpPr>
        <p:spPr>
          <a:xfrm>
            <a:off x="1331640" y="476672"/>
            <a:ext cx="734481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método </a:t>
            </a:r>
            <a:r>
              <a:rPr lang="pt-BR" u="sng" dirty="0" err="1"/>
              <a:t>listarFuncionarios</a:t>
            </a:r>
            <a:r>
              <a:rPr lang="pt-BR" dirty="0"/>
              <a:t> da classe Projeto deve fazer a exibição dos dados conforme </a:t>
            </a:r>
            <a:r>
              <a:rPr lang="pt-BR" dirty="0" err="1"/>
              <a:t>lay-out</a:t>
            </a:r>
            <a:r>
              <a:rPr lang="pt-BR" dirty="0"/>
              <a:t> abaixo: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2000" b="1" dirty="0"/>
              <a:t>Código: </a:t>
            </a:r>
            <a:r>
              <a:rPr lang="pt-BR" sz="2000" dirty="0">
                <a:solidFill>
                  <a:srgbClr val="0070C0"/>
                </a:solidFill>
              </a:rPr>
              <a:t>9999</a:t>
            </a:r>
          </a:p>
          <a:p>
            <a:r>
              <a:rPr lang="pt-BR" sz="2000" b="1" dirty="0"/>
              <a:t>Descrição:</a:t>
            </a:r>
            <a:r>
              <a:rPr lang="pt-BR" sz="2000" dirty="0"/>
              <a:t> </a:t>
            </a:r>
            <a:r>
              <a:rPr lang="pt-BR" sz="2000" dirty="0" err="1">
                <a:solidFill>
                  <a:srgbClr val="0070C0"/>
                </a:solidFill>
              </a:rPr>
              <a:t>xxxxxxxx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Data Início: </a:t>
            </a:r>
            <a:r>
              <a:rPr lang="pt-BR" sz="2000" dirty="0" err="1">
                <a:solidFill>
                  <a:srgbClr val="0070C0"/>
                </a:solidFill>
              </a:rPr>
              <a:t>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Data Término: </a:t>
            </a:r>
            <a:r>
              <a:rPr lang="pt-BR" sz="2000" dirty="0" err="1">
                <a:solidFill>
                  <a:srgbClr val="0070C0"/>
                </a:solidFill>
              </a:rPr>
              <a:t>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 err="1"/>
              <a:t>Qtde</a:t>
            </a:r>
            <a:r>
              <a:rPr lang="pt-BR" sz="2000" b="1" dirty="0"/>
              <a:t>. de Funcionários: </a:t>
            </a:r>
            <a:r>
              <a:rPr lang="pt-BR" sz="2000" dirty="0">
                <a:solidFill>
                  <a:srgbClr val="0070C0"/>
                </a:solidFill>
              </a:rPr>
              <a:t>99</a:t>
            </a:r>
          </a:p>
          <a:p>
            <a:endParaRPr lang="pt-BR" sz="2000" dirty="0"/>
          </a:p>
          <a:p>
            <a:r>
              <a:rPr lang="pt-BR" sz="2000" b="1" dirty="0"/>
              <a:t>Registro		Nome		   Cargo		Departamento</a:t>
            </a:r>
          </a:p>
          <a:p>
            <a:r>
              <a:rPr lang="pt-BR" sz="2000" dirty="0">
                <a:solidFill>
                  <a:srgbClr val="C00000"/>
                </a:solidFill>
              </a:rPr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>
                <a:solidFill>
                  <a:srgbClr val="FFC000"/>
                </a:solidFill>
              </a:rPr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/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7524409"/>
      </p:ext>
    </p:extLst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1340</TotalTime>
  <Words>712</Words>
  <Application>Microsoft Office PowerPoint</Application>
  <PresentationFormat>Apresentação na tela (4:3)</PresentationFormat>
  <Paragraphs>121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Monotype Sorts</vt:lpstr>
      <vt:lpstr>Times New Roman</vt:lpstr>
      <vt:lpstr>Wingdings</vt:lpstr>
      <vt:lpstr>Gravata</vt:lpstr>
      <vt:lpstr>Tema do Office</vt:lpstr>
      <vt:lpstr>Gravata</vt:lpstr>
      <vt:lpstr>Programação Orientada a Objetos</vt:lpstr>
      <vt:lpstr>Associação Binária</vt:lpstr>
      <vt:lpstr>Associação Binária</vt:lpstr>
      <vt:lpstr>Associação Binária</vt:lpstr>
      <vt:lpstr>Associação Binária</vt:lpstr>
      <vt:lpstr>Associação Binária</vt:lpstr>
      <vt:lpstr>Associação Binária</vt:lpstr>
      <vt:lpstr>Apresentação do PowerPoint</vt:lpstr>
      <vt:lpstr>Implementação da multiplicidade 1..* </vt:lpstr>
      <vt:lpstr>Apresentação do PowerPoint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105</cp:revision>
  <dcterms:created xsi:type="dcterms:W3CDTF">2003-08-12T17:50:11Z</dcterms:created>
  <dcterms:modified xsi:type="dcterms:W3CDTF">2026-03-30T00:36:43Z</dcterms:modified>
</cp:coreProperties>
</file>