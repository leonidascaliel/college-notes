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3" r:id="rId6"/>
    <p:sldId id="269" r:id="rId7"/>
    <p:sldId id="264" r:id="rId8"/>
    <p:sldId id="265" r:id="rId9"/>
    <p:sldId id="266" r:id="rId10"/>
    <p:sldId id="267" r:id="rId11"/>
    <p:sldId id="268" r:id="rId12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9966"/>
    <a:srgbClr val="FF99CC"/>
    <a:srgbClr val="CCCCFF"/>
    <a:srgbClr val="FFCCCC"/>
    <a:srgbClr val="CC99FF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3" autoAdjust="0"/>
    <p:restoredTop sz="90929"/>
  </p:normalViewPr>
  <p:slideViewPr>
    <p:cSldViewPr>
      <p:cViewPr varScale="1">
        <p:scale>
          <a:sx n="71" d="100"/>
          <a:sy n="71" d="100"/>
        </p:scale>
        <p:origin x="1699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pt-B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pt-BR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pt-BR"/>
              <a:t>Prof. Dimas Ferreira Cardoso</a:t>
            </a: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1EC1A2C-5F77-4213-B780-8DC78977378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46463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4-09-09T11:33:08.95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195 0,'-18'17</inkml:trace>
  <inkml:trace contextRef="#ctx0" brushRef="#br0" timeOffset="1946">0 670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4-09-09T11:33:20.232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36 0</inkml:trace>
  <inkml:trace contextRef="#ctx0" brushRef="#br0" timeOffset="1762">0 336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4-09-09T11:34:32.571"/>
    </inkml:context>
    <inkml:brush xml:id="br0">
      <inkml:brushProperty name="width" value="0.03528" units="cm"/>
      <inkml:brushProperty name="height" value="0.03528" units="cm"/>
      <inkml:brushProperty name="color" value="#548DD4"/>
      <inkml:brushProperty name="fitToCurve" value="1"/>
      <inkml:brushProperty name="ignorePressure" value="1"/>
    </inkml:brush>
    <inkml:brush xml:id="br1">
      <inkml:brushProperty name="width" value="0.03528" units="cm"/>
      <inkml:brushProperty name="height" value="0.03528" units="cm"/>
      <inkml:brushProperty name="color" value="#7030A0"/>
      <inkml:brushProperty name="fitToCurve" value="1"/>
      <inkml:brushProperty name="ignorePressure" value="1"/>
    </inkml:brush>
  </inkml:definitions>
  <inkml:trace contextRef="#ctx0" brushRef="#br0">0 264,'18'0,"-18"18</inkml:trace>
  <inkml:trace contextRef="#ctx0" brushRef="#br0" timeOffset="1634">177 1058,'17'0</inkml:trace>
  <inkml:trace contextRef="#ctx0" brushRef="#br1" timeOffset="22514">11289 0</inkml:trace>
  <inkml:trace contextRef="#ctx0" brushRef="#br1" timeOffset="24493">11219 652,'17'0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pt-BR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pt-B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pt-BR"/>
              <a:t>Prof. Dimas Ferreira Cardoso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C439B1B-C053-4A79-8BF7-8B608E6F166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595114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/>
              <a:t>Prof. Dimas Ferreira Cardoso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310DC2-1604-4732-9845-26A06502269B}" type="slidenum">
              <a:rPr lang="pt-BR"/>
              <a:pPr/>
              <a:t>1</a:t>
            </a:fld>
            <a:endParaRPr lang="pt-BR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330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C0C617E-AA45-4A7C-9B73-B6D28638F9E6}" type="slidenum">
              <a:rPr lang="pt-BR" altLang="pt-BR"/>
              <a:pPr/>
              <a:t>2</a:t>
            </a:fld>
            <a:endParaRPr lang="pt-BR" altLang="pt-BR"/>
          </a:p>
        </p:txBody>
      </p:sp>
      <p:sp>
        <p:nvSpPr>
          <p:cNvPr id="2252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53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74725" y="4554538"/>
            <a:ext cx="5353050" cy="4314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59239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>
            <a:extLst>
              <a:ext uri="{FF2B5EF4-FFF2-40B4-BE49-F238E27FC236}">
                <a16:creationId xmlns:a16="http://schemas.microsoft.com/office/drawing/2014/main" id="{DE2C2398-1BBE-4343-B4CA-5F8A1DC963F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1200"/>
              <a:t>Prof. Dimas Ferreira Cardoso</a:t>
            </a:r>
          </a:p>
        </p:txBody>
      </p:sp>
      <p:sp>
        <p:nvSpPr>
          <p:cNvPr id="24579" name="Rectangle 7">
            <a:extLst>
              <a:ext uri="{FF2B5EF4-FFF2-40B4-BE49-F238E27FC236}">
                <a16:creationId xmlns:a16="http://schemas.microsoft.com/office/drawing/2014/main" id="{CEDFA664-16FC-4090-BDCA-C4FA36079F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91A0810-148F-4E7C-ABB4-61B9C396E4E4}" type="slidenum">
              <a:rPr lang="pt-BR" altLang="pt-BR" sz="1200" smtClean="0"/>
              <a:pPr/>
              <a:t>3</a:t>
            </a:fld>
            <a:endParaRPr lang="pt-BR" altLang="pt-BR" sz="1200"/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FCCEC1ED-904C-43D2-A223-179FC639E8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5F55C30A-590F-4762-8B21-007449381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DA31AF4-D47F-4196-8339-3E61B9C0AC97}" type="slidenum">
              <a:rPr lang="pt-BR" altLang="pt-BR"/>
              <a:pPr/>
              <a:t>4</a:t>
            </a:fld>
            <a:endParaRPr lang="pt-BR" altLang="pt-BR"/>
          </a:p>
        </p:txBody>
      </p:sp>
      <p:sp>
        <p:nvSpPr>
          <p:cNvPr id="2355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74725" y="4554538"/>
            <a:ext cx="5353050" cy="4314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10053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264E2F5-4395-4A60-94D0-2B27908CC15E}" type="slidenum">
              <a:rPr lang="pt-BR" altLang="pt-BR"/>
              <a:pPr/>
              <a:t>5</a:t>
            </a:fld>
            <a:endParaRPr lang="pt-BR" altLang="pt-BR"/>
          </a:p>
        </p:txBody>
      </p:sp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74725" y="4554538"/>
            <a:ext cx="5353050" cy="4314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84267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4D5AAF4-4979-4E7F-8DBB-A832C024151F}" type="slidenum">
              <a:rPr lang="pt-BR" altLang="pt-BR"/>
              <a:pPr/>
              <a:t>6</a:t>
            </a:fld>
            <a:endParaRPr lang="pt-BR" altLang="pt-BR"/>
          </a:p>
        </p:txBody>
      </p:sp>
      <p:sp>
        <p:nvSpPr>
          <p:cNvPr id="256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74725" y="4554538"/>
            <a:ext cx="5353050" cy="4314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53672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A8CDB51-596F-4CC3-81FD-DD89BF633BEF}" type="slidenum">
              <a:rPr lang="pt-BR" altLang="pt-BR"/>
              <a:pPr/>
              <a:t>7</a:t>
            </a:fld>
            <a:endParaRPr lang="pt-BR" altLang="pt-BR"/>
          </a:p>
        </p:txBody>
      </p:sp>
      <p:sp>
        <p:nvSpPr>
          <p:cNvPr id="2662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662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74725" y="4554538"/>
            <a:ext cx="5353050" cy="4314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54305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9A66BE7-8A15-4344-B9E0-6A55FA7C7ED7}" type="slidenum">
              <a:rPr lang="pt-BR" altLang="pt-BR"/>
              <a:pPr/>
              <a:t>8</a:t>
            </a:fld>
            <a:endParaRPr lang="pt-BR" altLang="pt-BR"/>
          </a:p>
        </p:txBody>
      </p:sp>
      <p:sp>
        <p:nvSpPr>
          <p:cNvPr id="2764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74725" y="4554538"/>
            <a:ext cx="5353050" cy="4314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23687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-3175" y="2438400"/>
            <a:ext cx="9147175" cy="1063625"/>
            <a:chOff x="-2" y="1536"/>
            <a:chExt cx="5762" cy="670"/>
          </a:xfrm>
        </p:grpSpPr>
        <p:grpSp>
          <p:nvGrpSpPr>
            <p:cNvPr id="4099" name="Group 3"/>
            <p:cNvGrpSpPr>
              <a:grpSpLocks/>
            </p:cNvGrpSpPr>
            <p:nvPr/>
          </p:nvGrpSpPr>
          <p:grpSpPr bwMode="auto">
            <a:xfrm flipH="1">
              <a:off x="-2" y="1562"/>
              <a:ext cx="5762" cy="638"/>
              <a:chOff x="-2" y="1562"/>
              <a:chExt cx="5762" cy="638"/>
            </a:xfrm>
          </p:grpSpPr>
          <p:sp>
            <p:nvSpPr>
              <p:cNvPr id="4100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20"/>
                  </a:cxn>
                  <a:cxn ang="0">
                    <a:pos x="1000" y="720"/>
                  </a:cxn>
                  <a:cxn ang="0">
                    <a:pos x="1000" y="0"/>
                  </a:cxn>
                  <a:cxn ang="0">
                    <a:pos x="0" y="0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1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2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3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4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5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6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7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8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9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0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1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2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3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4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5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6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291" y="625"/>
                  </a:cxn>
                  <a:cxn ang="0">
                    <a:pos x="291" y="6"/>
                  </a:cxn>
                  <a:cxn ang="0">
                    <a:pos x="0" y="0"/>
                  </a:cxn>
                  <a:cxn ang="0">
                    <a:pos x="0" y="624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7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8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4119" name="Freeform 23"/>
            <p:cNvSpPr>
              <a:spLocks/>
            </p:cNvSpPr>
            <p:nvPr/>
          </p:nvSpPr>
          <p:spPr bwMode="ltGray">
            <a:xfrm flipH="1">
              <a:off x="-2" y="1536"/>
              <a:ext cx="5762" cy="412"/>
            </a:xfrm>
            <a:custGeom>
              <a:avLst/>
              <a:gdLst/>
              <a:ahLst/>
              <a:cxnLst>
                <a:cxn ang="0">
                  <a:pos x="0" y="196"/>
                </a:cxn>
                <a:cxn ang="0">
                  <a:pos x="5762" y="188"/>
                </a:cxn>
                <a:cxn ang="0">
                  <a:pos x="5762" y="4"/>
                </a:cxn>
                <a:cxn ang="0">
                  <a:pos x="0" y="0"/>
                </a:cxn>
                <a:cxn ang="0">
                  <a:pos x="0" y="196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ltGray">
            <a:xfrm flipH="1">
              <a:off x="-2" y="2017"/>
              <a:ext cx="5761" cy="189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5761" y="0"/>
                </a:cxn>
                <a:cxn ang="0">
                  <a:pos x="5761" y="189"/>
                </a:cxn>
                <a:cxn ang="0">
                  <a:pos x="1" y="189"/>
                </a:cxn>
                <a:cxn ang="0">
                  <a:pos x="0" y="28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121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1173163" y="1341438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Clique para editar o estilo do título mestre</a:t>
            </a:r>
          </a:p>
        </p:txBody>
      </p:sp>
      <p:sp>
        <p:nvSpPr>
          <p:cNvPr id="4122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75260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/>
            </a:lvl1pPr>
          </a:lstStyle>
          <a:p>
            <a:r>
              <a:rPr lang="en-US"/>
              <a:t>Clique para editar o estilo do subtítulo mestre</a:t>
            </a:r>
          </a:p>
        </p:txBody>
      </p:sp>
      <p:sp>
        <p:nvSpPr>
          <p:cNvPr id="4123" name="Rectangle 27"/>
          <p:cNvSpPr>
            <a:spLocks noGrp="1" noChangeArrowheads="1"/>
          </p:cNvSpPr>
          <p:nvPr>
            <p:ph type="dt" sz="half" idx="2"/>
          </p:nvPr>
        </p:nvSpPr>
        <p:spPr>
          <a:xfrm>
            <a:off x="1166813" y="62484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124" name="Rectangle 28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125" name="Rectangle 29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A8BB8DA9-E34E-4A7F-AC98-F39A257C6002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23F484-7AD8-40EF-A896-6AC39C3B4D50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F96A38-0486-4A42-B38B-F364127B6B90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A68C90-AD31-42B3-9510-B48B3CD90C9E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6ECDEB-03E2-470F-942E-5E8E4E9DAA13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C34A-EB14-4790-B431-A523545CA5CA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F6260A-EA1D-4577-9D4A-55FC65D4448F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80009-8FF3-4663-BB8F-A3EBFACAD9F6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4676BD-EACE-4636-865A-C7A7AEE324BE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F3938-366C-4100-8CAC-2C4B5F83D5AC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3DA6FA-9220-484C-8EA4-634D8D3DDB16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3163" y="457200"/>
            <a:ext cx="77724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lip-art 3"/>
          <p:cNvSpPr>
            <a:spLocks noGrp="1"/>
          </p:cNvSpPr>
          <p:nvPr>
            <p:ph type="clipArt"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1173163" y="626586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5814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E5DCF13-E451-4B8C-9C46-3E20F3F9330A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-4763"/>
            <a:ext cx="1063625" cy="6858001"/>
            <a:chOff x="0" y="-3"/>
            <a:chExt cx="670" cy="4320"/>
          </a:xfrm>
        </p:grpSpPr>
        <p:grpSp>
          <p:nvGrpSpPr>
            <p:cNvPr id="3075" name="Group 3"/>
            <p:cNvGrpSpPr>
              <a:grpSpLocks/>
            </p:cNvGrpSpPr>
            <p:nvPr/>
          </p:nvGrpSpPr>
          <p:grpSpPr bwMode="auto">
            <a:xfrm rot="16200000" flipH="1">
              <a:off x="-1815" y="1838"/>
              <a:ext cx="4320" cy="638"/>
              <a:chOff x="-2" y="1562"/>
              <a:chExt cx="5762" cy="638"/>
            </a:xfrm>
          </p:grpSpPr>
          <p:sp>
            <p:nvSpPr>
              <p:cNvPr id="3076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20"/>
                  </a:cxn>
                  <a:cxn ang="0">
                    <a:pos x="1000" y="720"/>
                  </a:cxn>
                  <a:cxn ang="0">
                    <a:pos x="1000" y="0"/>
                  </a:cxn>
                  <a:cxn ang="0">
                    <a:pos x="0" y="0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77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78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79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0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1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2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3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4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5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6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7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8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9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0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1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2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291" y="625"/>
                  </a:cxn>
                  <a:cxn ang="0">
                    <a:pos x="291" y="6"/>
                  </a:cxn>
                  <a:cxn ang="0">
                    <a:pos x="0" y="0"/>
                  </a:cxn>
                  <a:cxn ang="0">
                    <a:pos x="0" y="624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3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4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3095" name="Freeform 23"/>
            <p:cNvSpPr>
              <a:spLocks/>
            </p:cNvSpPr>
            <p:nvPr/>
          </p:nvSpPr>
          <p:spPr bwMode="ltGray">
            <a:xfrm rot="16200000" flipH="1">
              <a:off x="-1954" y="1951"/>
              <a:ext cx="4320" cy="412"/>
            </a:xfrm>
            <a:custGeom>
              <a:avLst/>
              <a:gdLst/>
              <a:ahLst/>
              <a:cxnLst>
                <a:cxn ang="0">
                  <a:pos x="0" y="196"/>
                </a:cxn>
                <a:cxn ang="0">
                  <a:pos x="5762" y="188"/>
                </a:cxn>
                <a:cxn ang="0">
                  <a:pos x="5762" y="4"/>
                </a:cxn>
                <a:cxn ang="0">
                  <a:pos x="0" y="0"/>
                </a:cxn>
                <a:cxn ang="0">
                  <a:pos x="0" y="196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96" name="Freeform 24"/>
            <p:cNvSpPr>
              <a:spLocks/>
            </p:cNvSpPr>
            <p:nvPr/>
          </p:nvSpPr>
          <p:spPr bwMode="ltGray">
            <a:xfrm rot="16200000" flipH="1">
              <a:off x="-1584" y="2062"/>
              <a:ext cx="4319" cy="189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5761" y="0"/>
                </a:cxn>
                <a:cxn ang="0">
                  <a:pos x="5761" y="189"/>
                </a:cxn>
                <a:cxn ang="0">
                  <a:pos x="1" y="189"/>
                </a:cxn>
                <a:cxn ang="0">
                  <a:pos x="0" y="28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3097" name="Rectangle 25"/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 estilo do título mestre</a:t>
            </a:r>
          </a:p>
        </p:txBody>
      </p:sp>
      <p:sp>
        <p:nvSpPr>
          <p:cNvPr id="3098" name="Rectangle 2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os estilos do texto mestre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</a:p>
        </p:txBody>
      </p:sp>
      <p:sp>
        <p:nvSpPr>
          <p:cNvPr id="3099" name="Rectangle 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latin typeface="+mn-lt"/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3100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3101" name="Rectangle 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fld id="{C97A5A41-FC7D-4180-91EE-C6BB8F5310D8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Monotype Sort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Programação Orientada </a:t>
            </a:r>
            <a:r>
              <a:rPr lang="pt-BR" dirty="0"/>
              <a:t>a Objetos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371600"/>
          </a:xfrm>
        </p:spPr>
        <p:txBody>
          <a:bodyPr/>
          <a:lstStyle/>
          <a:p>
            <a:pPr algn="ctr"/>
            <a:r>
              <a:rPr lang="pt-BR" dirty="0"/>
              <a:t>- Generalização/Especialização com polimorfismo 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899011" y="523287"/>
            <a:ext cx="3704711" cy="38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160" tIns="46080" rIns="92160" bIns="460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80000"/>
              </a:lnSpc>
              <a:buClrTx/>
              <a:buFontTx/>
              <a:buNone/>
            </a:pPr>
            <a:r>
              <a:rPr lang="pt-BR" altLang="pt-BR" b="1" dirty="0"/>
              <a:t>Implementação de Herança</a:t>
            </a:r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35052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55626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676400"/>
            <a:ext cx="1230313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143000" y="1752600"/>
            <a:ext cx="2530475" cy="1646238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100000">
                <a:srgbClr val="767647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/>
              <a:t>Características</a:t>
            </a:r>
          </a:p>
          <a:p>
            <a:pPr>
              <a:buClrTx/>
              <a:buFontTx/>
              <a:buNone/>
            </a:pPr>
            <a:r>
              <a:rPr lang="pt-BR" altLang="pt-BR" sz="1800" b="1" i="0"/>
              <a:t>   </a:t>
            </a:r>
            <a:r>
              <a:rPr lang="pt-BR" altLang="pt-BR" sz="1600" b="1" i="0"/>
              <a:t>Registro Funcional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Nome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Data de Admissão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Valor Hora Trabalhada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Qtde. Horas Trabalhadas</a:t>
            </a: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5410200" y="1871663"/>
            <a:ext cx="3200400" cy="1403350"/>
          </a:xfrm>
          <a:prstGeom prst="rect">
            <a:avLst/>
          </a:prstGeom>
          <a:gradFill rotWithShape="0">
            <a:gsLst>
              <a:gs pos="0">
                <a:srgbClr val="66FF66"/>
              </a:gs>
              <a:gs pos="100000">
                <a:srgbClr val="2F762F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  <a:contourClr>
              <a:srgbClr val="66FF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/>
              <a:t>Operações</a:t>
            </a:r>
          </a:p>
          <a:p>
            <a:pPr>
              <a:buClrTx/>
              <a:buFontTx/>
              <a:buNone/>
            </a:pPr>
            <a:r>
              <a:rPr lang="pt-BR" altLang="pt-BR" sz="1800" b="1" i="0"/>
              <a:t>   </a:t>
            </a:r>
            <a:r>
              <a:rPr lang="pt-BR" altLang="pt-BR" sz="1600" b="1" i="0"/>
              <a:t>Apontar Horas Trabalhadas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Calcular Salário Bruto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Calcular Descontos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Calcular Salário Líquido</a:t>
            </a: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3581400" y="3352800"/>
            <a:ext cx="22098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spcBef>
                <a:spcPts val="1125"/>
              </a:spcBef>
              <a:buClrTx/>
              <a:buFontTx/>
              <a:buNone/>
            </a:pPr>
            <a:r>
              <a:rPr lang="pt-BR" altLang="pt-BR" sz="1800" i="0"/>
              <a:t>Funcionário Horista</a:t>
            </a:r>
          </a:p>
        </p:txBody>
      </p:sp>
      <p:pic>
        <p:nvPicPr>
          <p:cNvPr id="10251" name="Picture 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962400"/>
            <a:ext cx="1230313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1143000" y="4038600"/>
            <a:ext cx="2530475" cy="1646238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100000">
                <a:srgbClr val="767647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/>
              <a:t>Características</a:t>
            </a:r>
          </a:p>
          <a:p>
            <a:pPr>
              <a:buClrTx/>
              <a:buFontTx/>
              <a:buNone/>
            </a:pPr>
            <a:r>
              <a:rPr lang="pt-BR" altLang="pt-BR" sz="1800" b="1" i="0"/>
              <a:t>   </a:t>
            </a:r>
            <a:r>
              <a:rPr lang="pt-BR" altLang="pt-BR" sz="1600" b="1" i="0"/>
              <a:t>Registro Funcional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Nome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Data de Admissão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Valor Salário Mínimo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No. de Salários Mínimo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5486400" y="4157663"/>
            <a:ext cx="3200400" cy="1417953"/>
          </a:xfrm>
          <a:prstGeom prst="rect">
            <a:avLst/>
          </a:prstGeom>
          <a:gradFill rotWithShape="0">
            <a:gsLst>
              <a:gs pos="0">
                <a:srgbClr val="66FF66"/>
              </a:gs>
              <a:gs pos="100000">
                <a:srgbClr val="2F762F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  <a:contourClr>
              <a:srgbClr val="66FF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 dirty="0"/>
              <a:t>Operações</a:t>
            </a:r>
          </a:p>
          <a:p>
            <a:pPr>
              <a:buClrTx/>
              <a:buFontTx/>
              <a:buNone/>
            </a:pPr>
            <a:r>
              <a:rPr lang="pt-BR" altLang="pt-BR" sz="1800" b="1" i="0" dirty="0"/>
              <a:t>   </a:t>
            </a:r>
            <a:r>
              <a:rPr lang="pt-BR" altLang="pt-BR" sz="1600" b="1" i="0" dirty="0"/>
              <a:t>Apontar </a:t>
            </a:r>
            <a:r>
              <a:rPr lang="pt-BR" altLang="pt-BR" sz="1600" b="1" i="0" dirty="0" err="1"/>
              <a:t>Qtde</a:t>
            </a:r>
            <a:r>
              <a:rPr lang="pt-BR" altLang="pt-BR" sz="1600" b="1" i="0" dirty="0"/>
              <a:t>. Salários Mínimos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Calcular Salário Bruto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Calcular Descontos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Calcular Salário Líquido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3581400" y="5638800"/>
            <a:ext cx="25146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spcBef>
                <a:spcPts val="1125"/>
              </a:spcBef>
              <a:buClrTx/>
              <a:buFontTx/>
              <a:buNone/>
            </a:pPr>
            <a:r>
              <a:rPr lang="pt-BR" altLang="pt-BR" sz="1800" i="0"/>
              <a:t>Funcionário Mensalista</a:t>
            </a: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5486070" y="4171287"/>
            <a:ext cx="3200400" cy="1417953"/>
          </a:xfrm>
          <a:prstGeom prst="rect">
            <a:avLst/>
          </a:prstGeom>
          <a:gradFill rotWithShape="0">
            <a:gsLst>
              <a:gs pos="0">
                <a:srgbClr val="66FF66"/>
              </a:gs>
              <a:gs pos="100000">
                <a:srgbClr val="2F762F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  <a:contourClr>
              <a:srgbClr val="66FF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 dirty="0"/>
              <a:t>Operações</a:t>
            </a:r>
          </a:p>
          <a:p>
            <a:pPr>
              <a:buClrTx/>
              <a:buFontTx/>
              <a:buNone/>
            </a:pPr>
            <a:r>
              <a:rPr lang="pt-BR" altLang="pt-BR" sz="1800" b="1" i="0" dirty="0"/>
              <a:t>   </a:t>
            </a:r>
            <a:r>
              <a:rPr lang="pt-BR" altLang="pt-BR" sz="1600" b="1" i="0" dirty="0"/>
              <a:t>Apontar </a:t>
            </a:r>
            <a:r>
              <a:rPr lang="pt-BR" altLang="pt-BR" sz="1600" b="1" i="0" dirty="0" err="1"/>
              <a:t>Qtde</a:t>
            </a:r>
            <a:r>
              <a:rPr lang="pt-BR" altLang="pt-BR" sz="1600" b="1" i="0" dirty="0"/>
              <a:t>. Salários Mínimos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</a:t>
            </a:r>
            <a:r>
              <a:rPr lang="pt-BR" altLang="pt-BR" sz="1600" b="1" i="0" dirty="0">
                <a:solidFill>
                  <a:srgbClr val="0000FF"/>
                </a:solidFill>
              </a:rPr>
              <a:t>Calcular Salário Bruto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Calcular Descontos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Calcular Salário Líquido</a:t>
            </a:r>
          </a:p>
        </p:txBody>
      </p:sp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5334000" y="1809750"/>
            <a:ext cx="3352800" cy="1403350"/>
          </a:xfrm>
          <a:prstGeom prst="rect">
            <a:avLst/>
          </a:prstGeom>
          <a:gradFill rotWithShape="0">
            <a:gsLst>
              <a:gs pos="0">
                <a:srgbClr val="66FF66"/>
              </a:gs>
              <a:gs pos="100000">
                <a:srgbClr val="2F762F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  <a:contourClr>
              <a:srgbClr val="66FF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/>
              <a:t>Operações</a:t>
            </a:r>
          </a:p>
          <a:p>
            <a:pPr>
              <a:buClrTx/>
              <a:buFontTx/>
              <a:buNone/>
            </a:pPr>
            <a:r>
              <a:rPr lang="pt-BR" altLang="pt-BR" sz="1800" b="1" i="0"/>
              <a:t>   </a:t>
            </a:r>
            <a:r>
              <a:rPr lang="pt-BR" altLang="pt-BR" sz="1600" b="1" i="0"/>
              <a:t>Apontar Horas Trabalhadas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</a:t>
            </a:r>
            <a:r>
              <a:rPr lang="pt-BR" altLang="pt-BR" sz="1600" b="1" i="0">
                <a:solidFill>
                  <a:srgbClr val="0000FF"/>
                </a:solidFill>
              </a:rPr>
              <a:t>Calcular Salário Bruto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Calcular Descontos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Calcular Salário Líquido</a:t>
            </a:r>
          </a:p>
        </p:txBody>
      </p:sp>
      <p:grpSp>
        <p:nvGrpSpPr>
          <p:cNvPr id="10257" name="Group 17"/>
          <p:cNvGrpSpPr>
            <a:grpSpLocks/>
          </p:cNvGrpSpPr>
          <p:nvPr/>
        </p:nvGrpSpPr>
        <p:grpSpPr bwMode="auto">
          <a:xfrm>
            <a:off x="7696200" y="2514600"/>
            <a:ext cx="531813" cy="2436813"/>
            <a:chOff x="4848" y="1584"/>
            <a:chExt cx="335" cy="1535"/>
          </a:xfrm>
        </p:grpSpPr>
        <p:sp>
          <p:nvSpPr>
            <p:cNvPr id="10258" name="Line 18"/>
            <p:cNvSpPr>
              <a:spLocks noChangeShapeType="1"/>
            </p:cNvSpPr>
            <p:nvPr/>
          </p:nvSpPr>
          <p:spPr bwMode="auto">
            <a:xfrm flipH="1">
              <a:off x="4847" y="1584"/>
              <a:ext cx="337" cy="0"/>
            </a:xfrm>
            <a:prstGeom prst="line">
              <a:avLst/>
            </a:prstGeom>
            <a:noFill/>
            <a:ln w="38160" cap="sq">
              <a:solidFill>
                <a:srgbClr val="99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59" name="Line 19"/>
            <p:cNvSpPr>
              <a:spLocks noChangeShapeType="1"/>
            </p:cNvSpPr>
            <p:nvPr/>
          </p:nvSpPr>
          <p:spPr bwMode="auto">
            <a:xfrm flipH="1">
              <a:off x="4847" y="3120"/>
              <a:ext cx="337" cy="0"/>
            </a:xfrm>
            <a:prstGeom prst="line">
              <a:avLst/>
            </a:prstGeom>
            <a:noFill/>
            <a:ln w="38160" cap="sq">
              <a:solidFill>
                <a:srgbClr val="99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0" name="Line 20"/>
            <p:cNvSpPr>
              <a:spLocks noChangeShapeType="1"/>
            </p:cNvSpPr>
            <p:nvPr/>
          </p:nvSpPr>
          <p:spPr bwMode="auto">
            <a:xfrm flipV="1">
              <a:off x="5184" y="1583"/>
              <a:ext cx="0" cy="1537"/>
            </a:xfrm>
            <a:prstGeom prst="line">
              <a:avLst/>
            </a:prstGeom>
            <a:noFill/>
            <a:ln w="38160" cap="sq">
              <a:solidFill>
                <a:srgbClr val="99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1143000" y="1752600"/>
            <a:ext cx="2530475" cy="1646238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100000">
                <a:srgbClr val="767647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/>
              <a:t>Características</a:t>
            </a:r>
          </a:p>
          <a:p>
            <a:pPr>
              <a:buClrTx/>
              <a:buFontTx/>
              <a:buNone/>
            </a:pPr>
            <a:r>
              <a:rPr lang="pt-BR" altLang="pt-BR" sz="1800" b="1" i="0"/>
              <a:t>   </a:t>
            </a:r>
            <a:r>
              <a:rPr lang="pt-BR" altLang="pt-BR" sz="1600" b="1" i="0"/>
              <a:t>Registro Funcional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Nome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Data de Admissão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</a:t>
            </a:r>
            <a:r>
              <a:rPr lang="pt-BR" altLang="pt-BR" sz="1600" b="1" i="0">
                <a:solidFill>
                  <a:srgbClr val="0000FF"/>
                </a:solidFill>
              </a:rPr>
              <a:t>Valor Hora Trabalhada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</a:t>
            </a:r>
            <a:r>
              <a:rPr lang="pt-BR" altLang="pt-BR" sz="1600" b="1" i="0">
                <a:solidFill>
                  <a:srgbClr val="0000FF"/>
                </a:solidFill>
              </a:rPr>
              <a:t>Qtde. Horas Trabalhadas</a:t>
            </a:r>
          </a:p>
        </p:txBody>
      </p:sp>
      <p:sp>
        <p:nvSpPr>
          <p:cNvPr id="10262" name="Text Box 22"/>
          <p:cNvSpPr txBox="1">
            <a:spLocks noChangeArrowheads="1"/>
          </p:cNvSpPr>
          <p:nvPr/>
        </p:nvSpPr>
        <p:spPr bwMode="auto">
          <a:xfrm>
            <a:off x="1143000" y="4038600"/>
            <a:ext cx="2530475" cy="1646238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100000">
                <a:srgbClr val="767647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/>
              <a:t>Características</a:t>
            </a:r>
          </a:p>
          <a:p>
            <a:pPr>
              <a:buClrTx/>
              <a:buFontTx/>
              <a:buNone/>
            </a:pPr>
            <a:r>
              <a:rPr lang="pt-BR" altLang="pt-BR" sz="1800" b="1" i="0"/>
              <a:t>   </a:t>
            </a:r>
            <a:r>
              <a:rPr lang="pt-BR" altLang="pt-BR" sz="1600" b="1" i="0"/>
              <a:t>Registro Funcional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Nome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Data de Admissão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</a:t>
            </a:r>
            <a:r>
              <a:rPr lang="pt-BR" altLang="pt-BR" sz="1600" b="1" i="0">
                <a:solidFill>
                  <a:srgbClr val="0000FF"/>
                </a:solidFill>
              </a:rPr>
              <a:t>Valor Salário Mínimo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</a:t>
            </a:r>
            <a:r>
              <a:rPr lang="pt-BR" altLang="pt-BR" sz="1600" b="1" i="0">
                <a:solidFill>
                  <a:srgbClr val="0000FF"/>
                </a:solidFill>
              </a:rPr>
              <a:t>No. de Salários Mínimo</a:t>
            </a:r>
          </a:p>
        </p:txBody>
      </p:sp>
      <p:sp>
        <p:nvSpPr>
          <p:cNvPr id="10263" name="AutoShape 23"/>
          <p:cNvSpPr>
            <a:spLocks/>
          </p:cNvSpPr>
          <p:nvPr/>
        </p:nvSpPr>
        <p:spPr bwMode="auto">
          <a:xfrm>
            <a:off x="1676400" y="1655763"/>
            <a:ext cx="1943100" cy="1066800"/>
          </a:xfrm>
          <a:prstGeom prst="accentCallout1">
            <a:avLst>
              <a:gd name="adj1" fmla="val 10588"/>
              <a:gd name="adj2" fmla="val 103921"/>
              <a:gd name="adj3" fmla="val 76597"/>
              <a:gd name="adj4" fmla="val 200000"/>
            </a:avLst>
          </a:prstGeom>
          <a:solidFill>
            <a:srgbClr val="CE9964"/>
          </a:solidFill>
          <a:ln w="9360" cap="sq">
            <a:solidFill>
              <a:srgbClr val="402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just">
              <a:buClrTx/>
              <a:buFontTx/>
              <a:buNone/>
            </a:pPr>
            <a:r>
              <a:rPr lang="pt-BR" altLang="pt-BR" sz="1600" i="0"/>
              <a:t>O cálculo é feito a partir do </a:t>
            </a:r>
            <a:r>
              <a:rPr lang="pt-BR" altLang="pt-BR" sz="1600" i="0" u="sng"/>
              <a:t>valor</a:t>
            </a:r>
            <a:r>
              <a:rPr lang="pt-BR" altLang="pt-BR" sz="1600" i="0"/>
              <a:t> e da </a:t>
            </a:r>
            <a:r>
              <a:rPr lang="pt-BR" altLang="pt-BR" sz="1600" i="0" u="sng"/>
              <a:t>qtde. de horas</a:t>
            </a:r>
            <a:r>
              <a:rPr lang="pt-BR" altLang="pt-BR" sz="1600" i="0"/>
              <a:t> trabalhadas</a:t>
            </a:r>
          </a:p>
        </p:txBody>
      </p:sp>
      <p:sp>
        <p:nvSpPr>
          <p:cNvPr id="10264" name="AutoShape 24"/>
          <p:cNvSpPr>
            <a:spLocks/>
          </p:cNvSpPr>
          <p:nvPr/>
        </p:nvSpPr>
        <p:spPr bwMode="auto">
          <a:xfrm>
            <a:off x="1676400" y="3962400"/>
            <a:ext cx="1943100" cy="1066800"/>
          </a:xfrm>
          <a:prstGeom prst="accentCallout1">
            <a:avLst>
              <a:gd name="adj1" fmla="val 10588"/>
              <a:gd name="adj2" fmla="val 103921"/>
              <a:gd name="adj3" fmla="val 89074"/>
              <a:gd name="adj4" fmla="val 206852"/>
            </a:avLst>
          </a:prstGeom>
          <a:solidFill>
            <a:srgbClr val="CE9964"/>
          </a:solidFill>
          <a:ln w="9360" cap="sq">
            <a:solidFill>
              <a:srgbClr val="402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just">
              <a:buClrTx/>
              <a:buFontTx/>
              <a:buNone/>
            </a:pPr>
            <a:r>
              <a:rPr lang="pt-BR" altLang="pt-BR" sz="1600" i="0"/>
              <a:t>O cálculo é feito a partir do </a:t>
            </a:r>
            <a:r>
              <a:rPr lang="pt-BR" altLang="pt-BR" sz="1600" i="0" u="sng"/>
              <a:t>valor</a:t>
            </a:r>
            <a:r>
              <a:rPr lang="pt-BR" altLang="pt-BR" sz="1600" i="0"/>
              <a:t> e da </a:t>
            </a:r>
            <a:r>
              <a:rPr lang="pt-BR" altLang="pt-BR" sz="1600" i="0" u="sng"/>
              <a:t>qtde</a:t>
            </a:r>
            <a:r>
              <a:rPr lang="pt-BR" altLang="pt-BR" sz="1600" i="0"/>
              <a:t> de salários mínimos</a:t>
            </a:r>
          </a:p>
        </p:txBody>
      </p:sp>
      <p:grpSp>
        <p:nvGrpSpPr>
          <p:cNvPr id="10265" name="Group 25"/>
          <p:cNvGrpSpPr>
            <a:grpSpLocks/>
          </p:cNvGrpSpPr>
          <p:nvPr/>
        </p:nvGrpSpPr>
        <p:grpSpPr bwMode="auto">
          <a:xfrm>
            <a:off x="849852" y="3014832"/>
            <a:ext cx="531813" cy="2436813"/>
            <a:chOff x="576" y="1872"/>
            <a:chExt cx="335" cy="1535"/>
          </a:xfrm>
        </p:grpSpPr>
        <p:sp>
          <p:nvSpPr>
            <p:cNvPr id="10266" name="Line 26"/>
            <p:cNvSpPr>
              <a:spLocks noChangeShapeType="1"/>
            </p:cNvSpPr>
            <p:nvPr/>
          </p:nvSpPr>
          <p:spPr bwMode="auto">
            <a:xfrm flipH="1">
              <a:off x="575" y="1872"/>
              <a:ext cx="337" cy="0"/>
            </a:xfrm>
            <a:prstGeom prst="line">
              <a:avLst/>
            </a:prstGeom>
            <a:noFill/>
            <a:ln w="38160" cap="sq">
              <a:solidFill>
                <a:srgbClr val="990000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7" name="Line 27"/>
            <p:cNvSpPr>
              <a:spLocks noChangeShapeType="1"/>
            </p:cNvSpPr>
            <p:nvPr/>
          </p:nvSpPr>
          <p:spPr bwMode="auto">
            <a:xfrm flipH="1">
              <a:off x="575" y="3396"/>
              <a:ext cx="337" cy="0"/>
            </a:xfrm>
            <a:prstGeom prst="line">
              <a:avLst/>
            </a:prstGeom>
            <a:noFill/>
            <a:ln w="38160" cap="sq">
              <a:solidFill>
                <a:srgbClr val="990000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8" name="Line 28"/>
            <p:cNvSpPr>
              <a:spLocks noChangeShapeType="1"/>
            </p:cNvSpPr>
            <p:nvPr/>
          </p:nvSpPr>
          <p:spPr bwMode="auto">
            <a:xfrm flipV="1">
              <a:off x="576" y="1871"/>
              <a:ext cx="0" cy="1537"/>
            </a:xfrm>
            <a:prstGeom prst="line">
              <a:avLst/>
            </a:prstGeom>
            <a:noFill/>
            <a:ln w="38160" cap="sq">
              <a:solidFill>
                <a:srgbClr val="99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07703034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repl">
                                        <p:cTn id="7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repl">
                                        <p:cTn id="12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repl">
                                        <p:cTn id="1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repl">
                                        <p:cTn id="22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43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48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repl">
                                        <p:cTn id="53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repl">
                                        <p:cTn id="58" dur="5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EEF0033E-1924-4AC5-912F-4F89626B5B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3163" y="228600"/>
            <a:ext cx="7772400" cy="533400"/>
          </a:xfrm>
        </p:spPr>
        <p:txBody>
          <a:bodyPr/>
          <a:lstStyle/>
          <a:p>
            <a:r>
              <a:rPr lang="pt-BR" altLang="pt-BR"/>
              <a:t>Princípios da P.O.O.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3163D56-98DB-47F1-AC3B-F734D962B5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9632" y="1558280"/>
            <a:ext cx="7391400" cy="4318992"/>
          </a:xfrm>
        </p:spPr>
        <p:txBody>
          <a:bodyPr/>
          <a:lstStyle/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pt-BR" altLang="pt-BR" dirty="0"/>
              <a:t>	</a:t>
            </a:r>
            <a:r>
              <a:rPr lang="pt-BR" altLang="pt-BR" sz="2800" b="1" dirty="0"/>
              <a:t>Generalização/Especialização com Polimorfismo</a:t>
            </a:r>
            <a:r>
              <a:rPr lang="pt-BR" altLang="pt-BR" sz="2800" dirty="0"/>
              <a:t>: as classes são organizadas por meio de uma </a:t>
            </a:r>
            <a:r>
              <a:rPr lang="pt-BR" altLang="pt-BR" sz="2800" b="1" dirty="0">
                <a:solidFill>
                  <a:schemeClr val="accent2"/>
                </a:solidFill>
              </a:rPr>
              <a:t>estrutura hierárquica</a:t>
            </a:r>
            <a:r>
              <a:rPr lang="pt-BR" altLang="pt-BR" sz="2800" dirty="0"/>
              <a:t>. Nesta estrutura, a </a:t>
            </a:r>
            <a:r>
              <a:rPr lang="pt-BR" altLang="pt-BR" sz="2800" b="1" dirty="0">
                <a:solidFill>
                  <a:schemeClr val="accent2"/>
                </a:solidFill>
              </a:rPr>
              <a:t>subclasse herdará os atributos e os métodos da superclasse</a:t>
            </a:r>
            <a:r>
              <a:rPr lang="pt-BR" altLang="pt-BR" sz="2800" dirty="0"/>
              <a:t>. Entretanto, uma subclasse poderá criar seu próprio </a:t>
            </a:r>
            <a:r>
              <a:rPr lang="pt-BR" altLang="pt-BR" sz="2800" b="1" dirty="0">
                <a:solidFill>
                  <a:schemeClr val="accent2"/>
                </a:solidFill>
              </a:rPr>
              <a:t>método(código)</a:t>
            </a:r>
            <a:r>
              <a:rPr lang="pt-BR" altLang="pt-BR" sz="2800" dirty="0"/>
              <a:t> para substituir, de </a:t>
            </a:r>
            <a:r>
              <a:rPr lang="pt-BR" altLang="pt-BR" sz="2800" b="1" u="sng" dirty="0">
                <a:solidFill>
                  <a:srgbClr val="FF0000"/>
                </a:solidFill>
              </a:rPr>
              <a:t>forma parcial ou total</a:t>
            </a:r>
            <a:r>
              <a:rPr lang="pt-BR" altLang="pt-BR" sz="2800" dirty="0"/>
              <a:t>, um </a:t>
            </a:r>
            <a:r>
              <a:rPr lang="pt-BR" altLang="pt-BR" sz="2800" b="1" dirty="0">
                <a:solidFill>
                  <a:schemeClr val="accent2"/>
                </a:solidFill>
              </a:rPr>
              <a:t>método herdado</a:t>
            </a:r>
            <a:r>
              <a:rPr lang="pt-BR" altLang="pt-BR" sz="2800" dirty="0"/>
              <a:t> através superclasse.</a:t>
            </a: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endParaRPr lang="pt-BR" altLang="pt-BR" sz="2800" dirty="0"/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endParaRPr lang="pt-BR" altLang="pt-BR" sz="2400" dirty="0"/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endParaRPr lang="pt-BR" altLang="pt-BR" sz="2400" dirty="0"/>
          </a:p>
        </p:txBody>
      </p:sp>
    </p:spTree>
    <p:extLst>
      <p:ext uri="{BB962C8B-B14F-4D97-AF65-F5344CB8AC3E}">
        <p14:creationId xmlns:p14="http://schemas.microsoft.com/office/powerpoint/2010/main" val="3941751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980728"/>
            <a:ext cx="8246505" cy="5049152"/>
          </a:xfrm>
          <a:prstGeom prst="rect">
            <a:avLst/>
          </a:prstGeom>
        </p:spPr>
      </p:pic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1098443" y="370505"/>
            <a:ext cx="3704711" cy="38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160" tIns="46080" rIns="92160" bIns="460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80000"/>
              </a:lnSpc>
              <a:buClrTx/>
              <a:buFontTx/>
              <a:buNone/>
            </a:pPr>
            <a:r>
              <a:rPr lang="pt-BR" altLang="pt-BR" b="1" dirty="0"/>
              <a:t>Implementação de Herança</a:t>
            </a:r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35052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1270" name="Line 6"/>
          <p:cNvSpPr>
            <a:spLocks noChangeShapeType="1"/>
          </p:cNvSpPr>
          <p:nvPr/>
        </p:nvSpPr>
        <p:spPr bwMode="auto">
          <a:xfrm>
            <a:off x="55626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2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200900" y="2222500"/>
              <a:ext cx="69850" cy="241300"/>
            </p14:xfrm>
          </p:contentPart>
        </mc:Choice>
        <mc:Fallback xmlns="">
          <p:pic>
            <p:nvPicPr>
              <p:cNvPr id="102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94485" y="2216027"/>
                <a:ext cx="81967" cy="2535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2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50100" y="2857500"/>
              <a:ext cx="12700" cy="120650"/>
            </p14:xfrm>
          </p:contentPart>
        </mc:Choice>
        <mc:Fallback xmlns="">
          <p:pic>
            <p:nvPicPr>
              <p:cNvPr id="102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3922" y="2851056"/>
                <a:ext cx="24370" cy="1328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31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051050" y="5981700"/>
              <a:ext cx="4064000" cy="381000"/>
            </p14:xfrm>
          </p:contentPart>
        </mc:Choice>
        <mc:Fallback xmlns="">
          <p:pic>
            <p:nvPicPr>
              <p:cNvPr id="1031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44571" y="5975224"/>
                <a:ext cx="4076239" cy="39323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1444173"/>
      </p:ext>
    </p:extLst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7C0B24B-38F9-1BAA-013E-29F20C5D1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1268760"/>
            <a:ext cx="5900690" cy="5515547"/>
          </a:xfrm>
          <a:prstGeom prst="rect">
            <a:avLst/>
          </a:prstGeom>
        </p:spPr>
      </p:pic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35052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>
            <a:off x="55626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298" name="AutoShape 10"/>
          <p:cNvSpPr>
            <a:spLocks/>
          </p:cNvSpPr>
          <p:nvPr/>
        </p:nvSpPr>
        <p:spPr bwMode="auto">
          <a:xfrm>
            <a:off x="4716016" y="116632"/>
            <a:ext cx="3352800" cy="914400"/>
          </a:xfrm>
          <a:prstGeom prst="borderCallout2">
            <a:avLst>
              <a:gd name="adj1" fmla="val 12500"/>
              <a:gd name="adj2" fmla="val -2273"/>
              <a:gd name="adj3" fmla="val 12500"/>
              <a:gd name="adj4" fmla="val -20125"/>
              <a:gd name="adj5" fmla="val 123611"/>
              <a:gd name="adj6" fmla="val -38634"/>
            </a:avLst>
          </a:prstGeom>
          <a:solidFill>
            <a:srgbClr val="FFCC00"/>
          </a:solidFill>
          <a:ln w="9360" cap="sq">
            <a:solidFill>
              <a:srgbClr val="402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pt-BR" altLang="pt-BR" sz="1400" b="1" i="0"/>
              <a:t>Classe Abstrata</a:t>
            </a:r>
          </a:p>
          <a:p>
            <a:pPr>
              <a:buClrTx/>
              <a:buFontTx/>
              <a:buNone/>
            </a:pPr>
            <a:endParaRPr lang="pt-BR" altLang="pt-BR" sz="1400" i="0"/>
          </a:p>
          <a:p>
            <a:pPr>
              <a:buClrTx/>
              <a:buFontTx/>
              <a:buNone/>
            </a:pPr>
            <a:r>
              <a:rPr lang="pt-BR" altLang="pt-BR" sz="1400" i="0"/>
              <a:t>Apresenta um ou mais métodos abstratos</a:t>
            </a:r>
          </a:p>
        </p:txBody>
      </p:sp>
      <p:sp>
        <p:nvSpPr>
          <p:cNvPr id="12297" name="AutoShape 9"/>
          <p:cNvSpPr>
            <a:spLocks/>
          </p:cNvSpPr>
          <p:nvPr/>
        </p:nvSpPr>
        <p:spPr bwMode="auto">
          <a:xfrm>
            <a:off x="6414470" y="4733769"/>
            <a:ext cx="2514600" cy="757684"/>
          </a:xfrm>
          <a:prstGeom prst="borderCallout2">
            <a:avLst>
              <a:gd name="adj1" fmla="val 12676"/>
              <a:gd name="adj2" fmla="val -3032"/>
              <a:gd name="adj3" fmla="val 17143"/>
              <a:gd name="adj4" fmla="val -19130"/>
              <a:gd name="adj5" fmla="val -17120"/>
              <a:gd name="adj6" fmla="val -35755"/>
            </a:avLst>
          </a:prstGeom>
          <a:solidFill>
            <a:srgbClr val="FFCC00"/>
          </a:solidFill>
          <a:ln w="9360" cap="sq">
            <a:solidFill>
              <a:srgbClr val="402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pt-BR" altLang="pt-BR" sz="1400" b="1" i="0"/>
              <a:t>Método Abstrato</a:t>
            </a:r>
          </a:p>
          <a:p>
            <a:pPr>
              <a:buClrTx/>
              <a:buFontTx/>
              <a:buNone/>
            </a:pPr>
            <a:endParaRPr lang="pt-BR" altLang="pt-BR" sz="1400" i="0"/>
          </a:p>
          <a:p>
            <a:pPr>
              <a:buClrTx/>
              <a:buFontTx/>
              <a:buNone/>
            </a:pPr>
            <a:r>
              <a:rPr lang="pt-BR" altLang="pt-BR" sz="1400" i="0"/>
              <a:t>Apresenta apenas a assinatura</a:t>
            </a:r>
          </a:p>
        </p:txBody>
      </p:sp>
    </p:spTree>
    <p:extLst>
      <p:ext uri="{BB962C8B-B14F-4D97-AF65-F5344CB8AC3E}">
        <p14:creationId xmlns:p14="http://schemas.microsoft.com/office/powerpoint/2010/main" val="16188487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B896F13-9C73-8F18-428E-FF8D281E5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926" y="1036120"/>
            <a:ext cx="7956376" cy="5665904"/>
          </a:xfrm>
          <a:prstGeom prst="rect">
            <a:avLst/>
          </a:prstGeom>
        </p:spPr>
      </p:pic>
      <p:sp>
        <p:nvSpPr>
          <p:cNvPr id="13317" name="Line 5"/>
          <p:cNvSpPr>
            <a:spLocks noChangeShapeType="1"/>
          </p:cNvSpPr>
          <p:nvPr/>
        </p:nvSpPr>
        <p:spPr bwMode="auto">
          <a:xfrm>
            <a:off x="35052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18" name="Line 6"/>
          <p:cNvSpPr>
            <a:spLocks noChangeShapeType="1"/>
          </p:cNvSpPr>
          <p:nvPr/>
        </p:nvSpPr>
        <p:spPr bwMode="auto">
          <a:xfrm>
            <a:off x="55626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20" name="AutoShape 8"/>
          <p:cNvSpPr>
            <a:spLocks/>
          </p:cNvSpPr>
          <p:nvPr/>
        </p:nvSpPr>
        <p:spPr bwMode="auto">
          <a:xfrm>
            <a:off x="6660232" y="66328"/>
            <a:ext cx="2376264" cy="914400"/>
          </a:xfrm>
          <a:prstGeom prst="borderCallout2">
            <a:avLst>
              <a:gd name="adj1" fmla="val 12500"/>
              <a:gd name="adj2" fmla="val -2630"/>
              <a:gd name="adj3" fmla="val 12500"/>
              <a:gd name="adj4" fmla="val -23301"/>
              <a:gd name="adj5" fmla="val 104462"/>
              <a:gd name="adj6" fmla="val -72164"/>
            </a:avLst>
          </a:prstGeom>
          <a:solidFill>
            <a:srgbClr val="FFCC00"/>
          </a:solidFill>
          <a:ln w="9360" cap="sq">
            <a:solidFill>
              <a:srgbClr val="402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just">
              <a:buClrTx/>
              <a:buFontTx/>
              <a:buNone/>
            </a:pPr>
            <a:r>
              <a:rPr lang="pt-BR" altLang="pt-BR" sz="1400" i="0"/>
              <a:t>Estabelece o vínculo de </a:t>
            </a:r>
            <a:r>
              <a:rPr lang="pt-BR" altLang="pt-BR" sz="1400" b="1" i="0"/>
              <a:t>herança</a:t>
            </a:r>
            <a:r>
              <a:rPr lang="pt-BR" altLang="pt-BR" sz="1400" i="0"/>
              <a:t> entre a </a:t>
            </a:r>
            <a:r>
              <a:rPr lang="pt-BR" altLang="pt-BR" sz="1400" b="1" i="0"/>
              <a:t>Super Classe</a:t>
            </a:r>
            <a:r>
              <a:rPr lang="pt-BR" altLang="pt-BR" sz="1400" i="0"/>
              <a:t> Funcionário e a </a:t>
            </a:r>
            <a:r>
              <a:rPr lang="pt-BR" altLang="pt-BR" sz="1400" b="1" i="0"/>
              <a:t>SubClasse</a:t>
            </a:r>
            <a:r>
              <a:rPr lang="pt-BR" altLang="pt-BR" sz="1400" i="0"/>
              <a:t> Funcionário Horista.</a:t>
            </a:r>
          </a:p>
        </p:txBody>
      </p:sp>
      <p:sp>
        <p:nvSpPr>
          <p:cNvPr id="13321" name="AutoShape 9"/>
          <p:cNvSpPr>
            <a:spLocks/>
          </p:cNvSpPr>
          <p:nvPr/>
        </p:nvSpPr>
        <p:spPr bwMode="auto">
          <a:xfrm>
            <a:off x="6591064" y="4284625"/>
            <a:ext cx="2514600" cy="757684"/>
          </a:xfrm>
          <a:prstGeom prst="borderCallout2">
            <a:avLst>
              <a:gd name="adj1" fmla="val 12676"/>
              <a:gd name="adj2" fmla="val -3032"/>
              <a:gd name="adj3" fmla="val 62747"/>
              <a:gd name="adj4" fmla="val -34160"/>
              <a:gd name="adj5" fmla="val 79061"/>
              <a:gd name="adj6" fmla="val -70910"/>
            </a:avLst>
          </a:prstGeom>
          <a:solidFill>
            <a:srgbClr val="00B0F0"/>
          </a:solidFill>
          <a:ln w="9360" cap="sq">
            <a:solidFill>
              <a:srgbClr val="402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pt-BR" altLang="pt-BR" sz="1400" i="0" dirty="0"/>
              <a:t>Implementação da operação Cálculo do Salário Bruto</a:t>
            </a:r>
            <a:r>
              <a:rPr lang="pt-BR" altLang="pt-BR" sz="1400" b="1" i="0" dirty="0"/>
              <a:t> (Polimorfismo)</a:t>
            </a:r>
          </a:p>
        </p:txBody>
      </p:sp>
      <p:sp>
        <p:nvSpPr>
          <p:cNvPr id="9" name="AutoShape 9"/>
          <p:cNvSpPr>
            <a:spLocks/>
          </p:cNvSpPr>
          <p:nvPr/>
        </p:nvSpPr>
        <p:spPr bwMode="auto">
          <a:xfrm>
            <a:off x="5724128" y="2721437"/>
            <a:ext cx="2562472" cy="635555"/>
          </a:xfrm>
          <a:prstGeom prst="borderCallout2">
            <a:avLst>
              <a:gd name="adj1" fmla="val 12676"/>
              <a:gd name="adj2" fmla="val -3032"/>
              <a:gd name="adj3" fmla="val 35473"/>
              <a:gd name="adj4" fmla="val -24344"/>
              <a:gd name="adj5" fmla="val -41128"/>
              <a:gd name="adj6" fmla="val -70790"/>
            </a:avLst>
          </a:prstGeom>
          <a:solidFill>
            <a:srgbClr val="FFCC00"/>
          </a:solidFill>
          <a:ln w="9360" cap="sq">
            <a:solidFill>
              <a:srgbClr val="402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pt-BR" altLang="pt-BR" sz="1400" i="0" dirty="0"/>
              <a:t>Chamada do </a:t>
            </a:r>
            <a:r>
              <a:rPr lang="pt-BR" altLang="pt-BR" sz="1400" b="1" i="0" dirty="0"/>
              <a:t>método construtor </a:t>
            </a:r>
            <a:r>
              <a:rPr lang="pt-BR" altLang="pt-BR" sz="1400" i="0" dirty="0"/>
              <a:t>da superclasse </a:t>
            </a:r>
            <a:r>
              <a:rPr lang="pt-BR" altLang="pt-BR" sz="1400" i="0" dirty="0" err="1"/>
              <a:t>Funcionario</a:t>
            </a:r>
            <a:endParaRPr lang="pt-BR" altLang="pt-BR" sz="1400" b="1" i="0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9B11FE3-0E79-5014-606B-ED6F4FB57DB3}"/>
              </a:ext>
            </a:extLst>
          </p:cNvPr>
          <p:cNvSpPr/>
          <p:nvPr/>
        </p:nvSpPr>
        <p:spPr bwMode="auto">
          <a:xfrm>
            <a:off x="1547664" y="5661248"/>
            <a:ext cx="3886844" cy="8640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63228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Line 4"/>
          <p:cNvSpPr>
            <a:spLocks noChangeShapeType="1"/>
          </p:cNvSpPr>
          <p:nvPr/>
        </p:nvSpPr>
        <p:spPr bwMode="auto">
          <a:xfrm>
            <a:off x="35052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55626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24C2B42-72DB-A8BC-09CD-9BD8A475E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40" y="1052736"/>
            <a:ext cx="8183660" cy="358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80729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022446" y="980728"/>
            <a:ext cx="1518215" cy="38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160" tIns="46080" rIns="92160" bIns="460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80000"/>
              </a:lnSpc>
              <a:buClrTx/>
              <a:buFontTx/>
              <a:buNone/>
            </a:pPr>
            <a:r>
              <a:rPr lang="pt-BR" altLang="pt-BR" b="1" dirty="0"/>
              <a:t>Exercícios</a:t>
            </a:r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>
            <a:off x="35052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>
            <a:off x="55626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1022446" y="1603523"/>
            <a:ext cx="7467600" cy="44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 marL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250"/>
              </a:spcBef>
              <a:buClrTx/>
              <a:buFontTx/>
              <a:buNone/>
            </a:pPr>
            <a:r>
              <a:rPr lang="pt-BR" altLang="pt-BR" sz="2000" dirty="0"/>
              <a:t>1) Implementar a classe </a:t>
            </a:r>
            <a:r>
              <a:rPr lang="pt-BR" altLang="pt-BR" sz="2000" dirty="0" err="1"/>
              <a:t>FuncionarioMensalista</a:t>
            </a:r>
            <a:r>
              <a:rPr lang="pt-BR" altLang="pt-BR" sz="2000" dirty="0"/>
              <a:t> e instanciar um objeto desta classe na aplicação.</a:t>
            </a:r>
          </a:p>
          <a:p>
            <a:pPr algn="just">
              <a:spcBef>
                <a:spcPts val="1250"/>
              </a:spcBef>
              <a:buClrTx/>
              <a:buFontTx/>
              <a:buNone/>
            </a:pPr>
            <a:r>
              <a:rPr lang="pt-BR" altLang="pt-BR" sz="2000" dirty="0"/>
              <a:t>2) Implementar os métodos </a:t>
            </a:r>
            <a:r>
              <a:rPr lang="pt-BR" altLang="pt-BR" sz="2000" dirty="0" err="1"/>
              <a:t>getRegistro</a:t>
            </a:r>
            <a:r>
              <a:rPr lang="pt-BR" altLang="pt-BR" sz="2000" dirty="0"/>
              <a:t>, </a:t>
            </a:r>
            <a:r>
              <a:rPr lang="pt-BR" altLang="pt-BR" sz="2000" dirty="0" err="1"/>
              <a:t>getNome</a:t>
            </a:r>
            <a:r>
              <a:rPr lang="pt-BR" altLang="pt-BR" sz="2000" dirty="0"/>
              <a:t>, </a:t>
            </a:r>
            <a:r>
              <a:rPr lang="pt-BR" altLang="pt-BR" sz="2000" dirty="0" err="1"/>
              <a:t>getDtAdmissao</a:t>
            </a:r>
            <a:r>
              <a:rPr lang="pt-BR" altLang="pt-BR" sz="2000" dirty="0"/>
              <a:t>. Utilizar os métodos implementados na aplicação.</a:t>
            </a:r>
          </a:p>
          <a:p>
            <a:pPr algn="just">
              <a:spcBef>
                <a:spcPts val="1250"/>
              </a:spcBef>
              <a:buClrTx/>
              <a:buFontTx/>
              <a:buNone/>
            </a:pPr>
            <a:r>
              <a:rPr lang="pt-BR" altLang="pt-BR" sz="2000" dirty="0"/>
              <a:t>3) Incluir o atributo Cargo </a:t>
            </a:r>
            <a:r>
              <a:rPr lang="pt-BR" altLang="pt-BR" sz="2000" i="0" dirty="0"/>
              <a:t>e o método </a:t>
            </a:r>
            <a:r>
              <a:rPr lang="pt-BR" altLang="pt-BR" sz="2000" u="sng" dirty="0" err="1"/>
              <a:t>getCargo</a:t>
            </a:r>
            <a:r>
              <a:rPr lang="pt-BR" altLang="pt-BR" sz="2000" u="sng" dirty="0"/>
              <a:t>()</a:t>
            </a:r>
            <a:r>
              <a:rPr lang="pt-BR" altLang="pt-BR" sz="2000" dirty="0"/>
              <a:t> para funcionários horistas e mensalistas</a:t>
            </a:r>
            <a:r>
              <a:rPr lang="pt-BR" altLang="pt-BR" sz="2000" i="0" dirty="0"/>
              <a:t>. Utilize o método na aplicação.</a:t>
            </a:r>
          </a:p>
          <a:p>
            <a:pPr algn="just">
              <a:spcBef>
                <a:spcPts val="1250"/>
              </a:spcBef>
              <a:buClrTx/>
              <a:buFontTx/>
              <a:buNone/>
            </a:pPr>
            <a:r>
              <a:rPr lang="pt-BR" altLang="pt-BR" sz="2000" dirty="0"/>
              <a:t>4) Implementar o método </a:t>
            </a:r>
            <a:r>
              <a:rPr lang="pt-BR" altLang="pt-BR" sz="2000" u="sng" dirty="0" err="1"/>
              <a:t>calcGratificacao</a:t>
            </a:r>
            <a:r>
              <a:rPr lang="pt-BR" altLang="pt-BR" sz="2000" u="sng" dirty="0"/>
              <a:t> (somente para funcionários horistas),</a:t>
            </a:r>
            <a:r>
              <a:rPr lang="pt-BR" altLang="pt-BR" sz="2000" dirty="0"/>
              <a:t> considerando que a gratificação representa 7,5% do salário bruto. Utilizar o método implementado na aplicação</a:t>
            </a:r>
          </a:p>
          <a:p>
            <a:pPr algn="just">
              <a:spcBef>
                <a:spcPts val="1250"/>
              </a:spcBef>
              <a:buClrTx/>
              <a:buFontTx/>
              <a:buNone/>
            </a:pPr>
            <a:r>
              <a:rPr lang="pt-BR" altLang="pt-BR" sz="2000"/>
              <a:t>5) </a:t>
            </a:r>
            <a:r>
              <a:rPr lang="pt-BR" altLang="pt-BR" sz="2000" dirty="0"/>
              <a:t>Implemente um novo método </a:t>
            </a:r>
            <a:r>
              <a:rPr lang="pt-BR" altLang="pt-BR" sz="2000" dirty="0" err="1"/>
              <a:t>calcSalLiquido</a:t>
            </a:r>
            <a:r>
              <a:rPr lang="pt-BR" altLang="pt-BR" sz="2000" dirty="0"/>
              <a:t> para funcionários horistas considerando que o salário liquido será igual ao salário bruto + gratificação - descontos.</a:t>
            </a:r>
          </a:p>
        </p:txBody>
      </p:sp>
    </p:spTree>
    <p:extLst>
      <p:ext uri="{BB962C8B-B14F-4D97-AF65-F5344CB8AC3E}">
        <p14:creationId xmlns:p14="http://schemas.microsoft.com/office/powerpoint/2010/main" val="371217468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ravata">
  <a:themeElements>
    <a:clrScheme name="Gravata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Gravata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ravata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avata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3d21a1a-f1cc-44e0-8a6a-36e2ab4c8fd7">
      <Terms xmlns="http://schemas.microsoft.com/office/infopath/2007/PartnerControls"/>
    </lcf76f155ced4ddcb4097134ff3c332f>
    <TaxCatchAll xmlns="b1ac516f-1c4c-4c95-9da4-5678320afb4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D0C3627E95414093F2086021D09D4B" ma:contentTypeVersion="11" ma:contentTypeDescription="Crie um novo documento." ma:contentTypeScope="" ma:versionID="154498be4374831bfbb9d93a107debba">
  <xsd:schema xmlns:xsd="http://www.w3.org/2001/XMLSchema" xmlns:xs="http://www.w3.org/2001/XMLSchema" xmlns:p="http://schemas.microsoft.com/office/2006/metadata/properties" xmlns:ns2="b1ac516f-1c4c-4c95-9da4-5678320afb46" xmlns:ns3="93d21a1a-f1cc-44e0-8a6a-36e2ab4c8fd7" targetNamespace="http://schemas.microsoft.com/office/2006/metadata/properties" ma:root="true" ma:fieldsID="9422c092944b66a3ce3e03ead579b11c" ns2:_="" ns3:_="">
    <xsd:import namespace="b1ac516f-1c4c-4c95-9da4-5678320afb46"/>
    <xsd:import namespace="93d21a1a-f1cc-44e0-8a6a-36e2ab4c8fd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c516f-1c4c-4c95-9da4-5678320afb4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ca6c0a32-1ce2-458a-8838-3abcc1c2e6e5}" ma:internalName="TaxCatchAll" ma:showField="CatchAllData" ma:web="b1ac516f-1c4c-4c95-9da4-5678320afb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d21a1a-f1cc-44e0-8a6a-36e2ab4c8f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ADFEB8-7D54-448E-B291-060181950298}">
  <ds:schemaRefs>
    <ds:schemaRef ds:uri="http://schemas.microsoft.com/office/2006/metadata/properties"/>
    <ds:schemaRef ds:uri="http://schemas.microsoft.com/office/infopath/2007/PartnerControls"/>
    <ds:schemaRef ds:uri="93d21a1a-f1cc-44e0-8a6a-36e2ab4c8fd7"/>
    <ds:schemaRef ds:uri="b1ac516f-1c4c-4c95-9da4-5678320afb46"/>
  </ds:schemaRefs>
</ds:datastoreItem>
</file>

<file path=customXml/itemProps2.xml><?xml version="1.0" encoding="utf-8"?>
<ds:datastoreItem xmlns:ds="http://schemas.openxmlformats.org/officeDocument/2006/customXml" ds:itemID="{61C25E8E-17A3-4A8F-9BFA-B786635E7E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0444E9-0FDC-499A-BF0E-4349437F9F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ac516f-1c4c-4c95-9da4-5678320afb46"/>
    <ds:schemaRef ds:uri="93d21a1a-f1cc-44e0-8a6a-36e2ab4c8f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Office\Modelos\Estruturas de apresentação\GRAVATA.POT</Template>
  <TotalTime>1245</TotalTime>
  <Words>439</Words>
  <Application>Microsoft Office PowerPoint</Application>
  <PresentationFormat>Apresentação na tela (4:3)</PresentationFormat>
  <Paragraphs>80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Monotype Sorts</vt:lpstr>
      <vt:lpstr>Times New Roman</vt:lpstr>
      <vt:lpstr>Gravata</vt:lpstr>
      <vt:lpstr>Programação Orientada a Objetos</vt:lpstr>
      <vt:lpstr>Apresentação do PowerPoint</vt:lpstr>
      <vt:lpstr>Princípios da P.O.O.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FATEC-SO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Orientada a Objetos</dc:title>
  <dc:creator>dimas</dc:creator>
  <cp:lastModifiedBy>Dimas Cardoso</cp:lastModifiedBy>
  <cp:revision>93</cp:revision>
  <dcterms:created xsi:type="dcterms:W3CDTF">2003-08-12T17:50:11Z</dcterms:created>
  <dcterms:modified xsi:type="dcterms:W3CDTF">2026-03-22T22:34:23Z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0x01010097D0C3627E95414093F2086021D09D4B</vt:lpwstr>
  </property>
</Properties>
</file>